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88e25cd6f74f9d" /><Relationship Type="http://schemas.openxmlformats.org/officeDocument/2006/relationships/extended-properties" Target="/docProps/app.xml" Id="Rdffd5213cde04684" /><Relationship Type="http://schemas.openxmlformats.org/officeDocument/2006/relationships/officeDocument" Target="/ppt/presentation.xml" Id="Rb6eed4d921774f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dd0c9151ca45f8"/>
  </p:sldMasterIdLst>
  <p:notesMasterIdLst>
    <p:notesMasterId xmlns:r="http://schemas.openxmlformats.org/officeDocument/2006/relationships" r:id="Rf13f1d7662824b30"/>
  </p:notesMasterIdLst>
  <p:sldIdLst>
    <p:sldId xmlns:r="http://schemas.openxmlformats.org/officeDocument/2006/relationships" id="256" r:id="Rf12dbfa54c914982"/>
    <p:sldId xmlns:r="http://schemas.openxmlformats.org/officeDocument/2006/relationships" id="257" r:id="R15b24ba2c02d4e28"/>
    <p:sldId xmlns:r="http://schemas.openxmlformats.org/officeDocument/2006/relationships" id="258" r:id="Rdb52209eb86641cc"/>
    <p:sldId xmlns:r="http://schemas.openxmlformats.org/officeDocument/2006/relationships" id="259" r:id="R4ec0459f597547ca"/>
    <p:sldId xmlns:r="http://schemas.openxmlformats.org/officeDocument/2006/relationships" id="260" r:id="R28bb6d58df3b448b"/>
    <p:sldId xmlns:r="http://schemas.openxmlformats.org/officeDocument/2006/relationships" id="261" r:id="R341548874641448b"/>
    <p:sldId xmlns:r="http://schemas.openxmlformats.org/officeDocument/2006/relationships" id="262" r:id="R23fb84477842462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d0c9151ca45f8" /><Relationship Type="http://schemas.openxmlformats.org/officeDocument/2006/relationships/theme" Target="/ppt/theme/theme1.xml" Id="R3670aa6b5b05496e" /><Relationship Type="http://schemas.openxmlformats.org/officeDocument/2006/relationships/notesMaster" Target="/ppt/notesMasters/notesMaster1.xml" Id="Rf13f1d7662824b30" /><Relationship Type="http://schemas.openxmlformats.org/officeDocument/2006/relationships/presProps" Target="/ppt/presProps.xml" Id="R1bd1f61c6eaa4277" /><Relationship Type="http://schemas.openxmlformats.org/officeDocument/2006/relationships/viewProps" Target="/ppt/viewProps.xml" Id="R98a0fda8ff8d47d8" /><Relationship Type="http://schemas.openxmlformats.org/officeDocument/2006/relationships/tableStyles" Target="/ppt/tableStyles.xml" Id="R5b4a525ebfb2462f" /><Relationship Type="http://schemas.openxmlformats.org/officeDocument/2006/relationships/slide" Target="/ppt/slides/slide1.xml" Id="Rf12dbfa54c914982" /><Relationship Type="http://schemas.openxmlformats.org/officeDocument/2006/relationships/slide" Target="/ppt/slides/slide2.xml" Id="R15b24ba2c02d4e28" /><Relationship Type="http://schemas.openxmlformats.org/officeDocument/2006/relationships/slide" Target="/ppt/slides/slide3.xml" Id="Rdb52209eb86641cc" /><Relationship Type="http://schemas.openxmlformats.org/officeDocument/2006/relationships/slide" Target="/ppt/slides/slide4.xml" Id="R4ec0459f597547ca" /><Relationship Type="http://schemas.openxmlformats.org/officeDocument/2006/relationships/slide" Target="/ppt/slides/slide5.xml" Id="R28bb6d58df3b448b" /><Relationship Type="http://schemas.openxmlformats.org/officeDocument/2006/relationships/slide" Target="/ppt/slides/slide6.xml" Id="R341548874641448b" /><Relationship Type="http://schemas.openxmlformats.org/officeDocument/2006/relationships/slide" Target="/ppt/slides/slide7.xml" Id="R23fb8447784246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5bfa7717df54e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b2c6ed16a94949" /><Relationship Type="http://schemas.openxmlformats.org/officeDocument/2006/relationships/notesMaster" Target="/ppt/notesMasters/notesMaster1.xml" Id="R1889b00064bf4e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da1bbc000a4764" /><Relationship Type="http://schemas.openxmlformats.org/officeDocument/2006/relationships/notesMaster" Target="/ppt/notesMasters/notesMaster1.xml" Id="Re85f419d47744a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3be5ee88354491" /><Relationship Type="http://schemas.openxmlformats.org/officeDocument/2006/relationships/notesMaster" Target="/ppt/notesMasters/notesMaster1.xml" Id="Ra3c7ac9173624a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82df9ece1441aa" /><Relationship Type="http://schemas.openxmlformats.org/officeDocument/2006/relationships/notesMaster" Target="/ppt/notesMasters/notesMaster1.xml" Id="Rd9ac47e7a8964f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91cc98ca994ede" /><Relationship Type="http://schemas.openxmlformats.org/officeDocument/2006/relationships/notesMaster" Target="/ppt/notesMasters/notesMaster1.xml" Id="Rfefce8d13e1247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939ada30e2468d" /><Relationship Type="http://schemas.openxmlformats.org/officeDocument/2006/relationships/notesMaster" Target="/ppt/notesMasters/notesMaster1.xml" Id="R37259527ebf84c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f075d91f7b4621" /><Relationship Type="http://schemas.openxmlformats.org/officeDocument/2006/relationships/notesMaster" Target="/ppt/notesMasters/notesMaster1.xml" Id="Rb9ba3e554a9442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e0dab3ce6145a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673eeab28f948bc" /><Relationship Type="http://schemas.openxmlformats.org/officeDocument/2006/relationships/slideLayout" Target="/ppt/slideLayouts/slideLayout2.xml" Id="R5b29df86097943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29df86097943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379e5d3ea146b5" /><Relationship Type="http://schemas.openxmlformats.org/officeDocument/2006/relationships/notesSlide" Target="/ppt/notesSlides/notesSlide1.xml" Id="R139bd1ccfa1540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5a39c807be4917" /><Relationship Type="http://schemas.openxmlformats.org/officeDocument/2006/relationships/notesSlide" Target="/ppt/notesSlides/notesSlide2.xml" Id="R184f0ce7952644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769277d4d84074" /><Relationship Type="http://schemas.openxmlformats.org/officeDocument/2006/relationships/notesSlide" Target="/ppt/notesSlides/notesSlide3.xml" Id="Re1beb1f76f684e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26602c9eea44d1" /><Relationship Type="http://schemas.openxmlformats.org/officeDocument/2006/relationships/notesSlide" Target="/ppt/notesSlides/notesSlide4.xml" Id="R1a878ea73b1542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97a6dc65b44ccc" /><Relationship Type="http://schemas.openxmlformats.org/officeDocument/2006/relationships/notesSlide" Target="/ppt/notesSlides/notesSlide5.xml" Id="Rf6f3b5b5255a48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a32f4f83754496" /><Relationship Type="http://schemas.openxmlformats.org/officeDocument/2006/relationships/notesSlide" Target="/ppt/notesSlides/notesSlide6.xml" Id="Rc3ef2dfefb5244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0d748271bc4a5c" /><Relationship Type="http://schemas.openxmlformats.org/officeDocument/2006/relationships/notesSlide" Target="/ppt/notesSlides/notesSlide7.xml" Id="R32c225e8a5f243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tag-pill">
            <a:extLst xmlns:a="http://schemas.openxmlformats.org/drawingml/2006/main">
              <a:ext uri="{FF2B5EF4-FFF2-40B4-BE49-F238E27FC236}">
                <a16:creationId xmlns:a16="http://schemas.microsoft.com/office/drawing/2014/main" id="{DD950546-FC25-422B-92C0-094DB480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1638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2C6E63"/>
            </a:solidFill>
            <a:prstDash val="solid"/>
          </a:ln>
        </p:spPr>
      </p:sp>
      <p:sp>
        <p:nvSpPr>
          <p:cNvPr id="2" name="cover-tag-text">
            <a:extLst xmlns:a="http://schemas.openxmlformats.org/drawingml/2006/main">
              <a:ext uri="{FF2B5EF4-FFF2-40B4-BE49-F238E27FC236}">
                <a16:creationId xmlns:a16="http://schemas.microsoft.com/office/drawing/2014/main" id="{F9B8D5AD-0560-4057-9089-78251BFF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0">
            <a:solidFill>
              <a:srgbClr val="DCE9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C6E63"/>
                </a:solidFill>
                <a:latin typeface="Arial"/>
                <a:ea typeface="Arial"/>
                <a:cs typeface="Arial"/>
              </a:defRPr>
            </a:pPr>
            <a:r>
              <a:t>PROJECT BRIEF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41F6350-6AD8-4CF4-A2CD-CE0CDB82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953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41414"/>
                </a:solidFill>
                <a:latin typeface="Georgia"/>
                <a:ea typeface="Georgia"/>
                <a:cs typeface="Georgia"/>
              </a:defRPr>
            </a:pPr>
            <a:r>
              <a:t>AI-ingest is a personal filter for the AI firehose.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53EE3EC-FC80-4C0B-AA82-4D619F11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619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It scrapes free AI/news sources, uses profile.md as the product brain, and turns the day into a short morning page focused on what Ullas can actually try this week.</a:t>
            </a:r>
          </a:p>
        </p:txBody>
      </p:sp>
      <p:sp>
        <p:nvSpPr>
          <p:cNvPr id="5" name="cover-line">
            <a:extLst xmlns:a="http://schemas.openxmlformats.org/drawingml/2006/main">
              <a:ext uri="{FF2B5EF4-FFF2-40B4-BE49-F238E27FC236}">
                <a16:creationId xmlns:a16="http://schemas.microsoft.com/office/drawing/2014/main" id="{3EF4809D-892B-4A46-9AAC-4260FDC3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6" name="cover-one-line">
            <a:extLst xmlns:a="http://schemas.openxmlformats.org/drawingml/2006/main">
              <a:ext uri="{FF2B5EF4-FFF2-40B4-BE49-F238E27FC236}">
                <a16:creationId xmlns:a16="http://schemas.microsoft.com/office/drawing/2014/main" id="{5E51A9F0-4E93-4F26-9958-A5CF34FE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657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1">
                <a:solidFill>
                  <a:srgbClr val="2C6E63"/>
                </a:solidFill>
                <a:latin typeface="Georgia"/>
                <a:ea typeface="Georgia"/>
                <a:cs typeface="Georgia"/>
              </a:defRPr>
            </a:pPr>
            <a:r>
              <a:t>Read for 3 minutes. Pick one useful thing. Close the tab and build.</a:t>
            </a:r>
          </a:p>
        </p:txBody>
      </p:sp>
      <p:sp>
        <p:nvSpPr>
          <p:cNvPr id="7" name="cover-metric-1-box">
            <a:extLst xmlns:a="http://schemas.openxmlformats.org/drawingml/2006/main">
              <a:ext uri="{FF2B5EF4-FFF2-40B4-BE49-F238E27FC236}">
                <a16:creationId xmlns:a16="http://schemas.microsoft.com/office/drawing/2014/main" id="{EE412433-C097-4C16-AD21-7606A075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1620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8" name="cover-metric-1-value">
            <a:extLst xmlns:a="http://schemas.openxmlformats.org/drawingml/2006/main">
              <a:ext uri="{FF2B5EF4-FFF2-40B4-BE49-F238E27FC236}">
                <a16:creationId xmlns:a16="http://schemas.microsoft.com/office/drawing/2014/main" id="{D7F98441-7533-4D59-82B9-ADB621A5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304925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2F5D8C"/>
                </a:solidFill>
                <a:latin typeface="Georgia"/>
                <a:ea typeface="Georgia"/>
                <a:cs typeface="Georgia"/>
              </a:defRPr>
            </a:pPr>
            <a:r>
              <a:t>4</a:t>
            </a:r>
          </a:p>
        </p:txBody>
      </p:sp>
      <p:sp>
        <p:nvSpPr>
          <p:cNvPr id="9" name="cover-metric-1-label">
            <a:extLst xmlns:a="http://schemas.openxmlformats.org/drawingml/2006/main">
              <a:ext uri="{FF2B5EF4-FFF2-40B4-BE49-F238E27FC236}">
                <a16:creationId xmlns:a16="http://schemas.microsoft.com/office/drawing/2014/main" id="{E5C68BD7-37C2-485B-A9D6-0BD2BBFC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145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active source groups in scraper.js</a:t>
            </a:r>
          </a:p>
        </p:txBody>
      </p:sp>
      <p:sp>
        <p:nvSpPr>
          <p:cNvPr id="10" name="cover-metric-2-box">
            <a:extLst xmlns:a="http://schemas.openxmlformats.org/drawingml/2006/main">
              <a:ext uri="{FF2B5EF4-FFF2-40B4-BE49-F238E27FC236}">
                <a16:creationId xmlns:a16="http://schemas.microsoft.com/office/drawing/2014/main" id="{9C077E80-E8AD-4AEE-9272-BF5A39D7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574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cover-metric-2-value">
            <a:extLst xmlns:a="http://schemas.openxmlformats.org/drawingml/2006/main">
              <a:ext uri="{FF2B5EF4-FFF2-40B4-BE49-F238E27FC236}">
                <a16:creationId xmlns:a16="http://schemas.microsoft.com/office/drawing/2014/main" id="{D2CB4B8B-5161-408B-A1A7-027048A6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00325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2C6E63"/>
                </a:solidFill>
                <a:latin typeface="Georgia"/>
                <a:ea typeface="Georgia"/>
                <a:cs typeface="Georgia"/>
              </a:defRPr>
            </a:pPr>
            <a:r>
              <a:t>2</a:t>
            </a:r>
          </a:p>
        </p:txBody>
      </p:sp>
      <p:sp>
        <p:nvSpPr>
          <p:cNvPr id="12" name="cover-metric-2-label">
            <a:extLst xmlns:a="http://schemas.openxmlformats.org/drawingml/2006/main">
              <a:ext uri="{FF2B5EF4-FFF2-40B4-BE49-F238E27FC236}">
                <a16:creationId xmlns:a16="http://schemas.microsoft.com/office/drawing/2014/main" id="{E2632DCC-5FB8-4A6C-A5C3-DA4D1CFF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099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Gemini passes: filter, then brief</a:t>
            </a:r>
          </a:p>
        </p:txBody>
      </p:sp>
      <p:sp>
        <p:nvSpPr>
          <p:cNvPr id="13" name="cover-metric-3-box">
            <a:extLst xmlns:a="http://schemas.openxmlformats.org/drawingml/2006/main">
              <a:ext uri="{FF2B5EF4-FFF2-40B4-BE49-F238E27FC236}">
                <a16:creationId xmlns:a16="http://schemas.microsoft.com/office/drawing/2014/main" id="{52D1BAEB-2491-4843-90B3-730BACB4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4" name="cover-metric-3-value">
            <a:extLst xmlns:a="http://schemas.openxmlformats.org/drawingml/2006/main">
              <a:ext uri="{FF2B5EF4-FFF2-40B4-BE49-F238E27FC236}">
                <a16:creationId xmlns:a16="http://schemas.microsoft.com/office/drawing/2014/main" id="{1882230E-DDA2-4AAA-911D-5FF4A9E3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95725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B7791F"/>
                </a:solidFill>
                <a:latin typeface="Georgia"/>
                <a:ea typeface="Georgia"/>
                <a:cs typeface="Georgia"/>
              </a:defRPr>
            </a:pPr>
            <a:r>
              <a:t>06:00</a:t>
            </a:r>
          </a:p>
        </p:txBody>
      </p:sp>
      <p:sp>
        <p:nvSpPr>
          <p:cNvPr id="15" name="cover-metric-3-label">
            <a:extLst xmlns:a="http://schemas.openxmlformats.org/drawingml/2006/main">
              <a:ext uri="{FF2B5EF4-FFF2-40B4-BE49-F238E27FC236}">
                <a16:creationId xmlns:a16="http://schemas.microsoft.com/office/drawing/2014/main" id="{AEFB59E1-7008-4D49-8E35-C711DD24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053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IST daily GitHub Actions run</a:t>
            </a:r>
          </a:p>
        </p:txBody>
      </p:sp>
      <p:sp>
        <p:nvSpPr>
          <p:cNvPr id="16" name="cover-metric-4-box">
            <a:extLst xmlns:a="http://schemas.openxmlformats.org/drawingml/2006/main">
              <a:ext uri="{FF2B5EF4-FFF2-40B4-BE49-F238E27FC236}">
                <a16:creationId xmlns:a16="http://schemas.microsoft.com/office/drawing/2014/main" id="{015077FC-5FDF-41E9-BF3D-D243A274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482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cover-metric-4-value">
            <a:extLst xmlns:a="http://schemas.openxmlformats.org/drawingml/2006/main">
              <a:ext uri="{FF2B5EF4-FFF2-40B4-BE49-F238E27FC236}">
                <a16:creationId xmlns:a16="http://schemas.microsoft.com/office/drawing/2014/main" id="{E59AFD3F-F6F7-4B15-953C-D52A9E49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91125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8A3C4A"/>
                </a:solidFill>
                <a:latin typeface="Georgia"/>
                <a:ea typeface="Georgia"/>
                <a:cs typeface="Georgia"/>
              </a:defRPr>
            </a:pPr>
            <a:r>
              <a:t>3-15</a:t>
            </a:r>
          </a:p>
        </p:txBody>
      </p:sp>
      <p:sp>
        <p:nvSpPr>
          <p:cNvPr id="18" name="cover-metric-4-label">
            <a:extLst xmlns:a="http://schemas.openxmlformats.org/drawingml/2006/main">
              <a:ext uri="{FF2B5EF4-FFF2-40B4-BE49-F238E27FC236}">
                <a16:creationId xmlns:a16="http://schemas.microsoft.com/office/drawing/2014/main" id="{4583D24E-2A69-464B-B01F-49DBDC67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6007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ranked items, with top 3-5 essentials</a:t>
            </a:r>
          </a:p>
        </p:txBody>
      </p:sp>
      <p:sp>
        <p:nvSpPr>
          <p:cNvPr id="19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21C13B24-F211-495C-8533-4C58401C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20" name="footer-source-1">
            <a:extLst xmlns:a="http://schemas.openxmlformats.org/drawingml/2006/main">
              <a:ext uri="{FF2B5EF4-FFF2-40B4-BE49-F238E27FC236}">
                <a16:creationId xmlns:a16="http://schemas.microsoft.com/office/drawing/2014/main" id="{FA1C72C1-961A-413C-BB9E-C05DE33E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948B"/>
                </a:solidFill>
                <a:latin typeface="Arial"/>
                <a:ea typeface="Arial"/>
                <a:cs typeface="Arial"/>
              </a:defRPr>
            </a:pPr>
            <a:r>
              <a:t>Source: README.md, AGENTS.md, scraper.js, brain.js, daily.yml</a:t>
            </a:r>
          </a:p>
        </p:txBody>
      </p:sp>
      <p:sp>
        <p:nvSpPr>
          <p:cNvPr id="21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1EFF9809-AE30-4C38-AA87-393924B6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9A948B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248192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BFF29393-49C0-45EF-A94D-7EAAB20C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1153AB38-B1D4-418E-A7BE-685EB494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PRODUCT INTENT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6C1BB9E1-1A50-43EB-8A05-2070769F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141414"/>
                </a:solidFill>
                <a:latin typeface="Georgia"/>
                <a:ea typeface="Georgia"/>
                <a:cs typeface="Georgia"/>
              </a:defRPr>
            </a:pPr>
            <a:r>
              <a:t>The product is not a news feed; it is an action filter.</a:t>
            </a:r>
          </a:p>
        </p:txBody>
      </p:sp>
      <p:sp>
        <p:nvSpPr>
          <p:cNvPr id="4" name="support-2">
            <a:extLst xmlns:a="http://schemas.openxmlformats.org/drawingml/2006/main">
              <a:ext uri="{FF2B5EF4-FFF2-40B4-BE49-F238E27FC236}">
                <a16:creationId xmlns:a16="http://schemas.microsoft.com/office/drawing/2014/main" id="{9F8BF8EE-B5FF-486E-A3DD-E1A33466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91440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profile.md says the brief should push toward shipping, not more learning.</a:t>
            </a:r>
          </a:p>
        </p:txBody>
      </p:sp>
      <p:sp>
        <p:nvSpPr>
          <p:cNvPr id="5" name="noise-box">
            <a:extLst xmlns:a="http://schemas.openxmlformats.org/drawingml/2006/main">
              <a:ext uri="{FF2B5EF4-FFF2-40B4-BE49-F238E27FC236}">
                <a16:creationId xmlns:a16="http://schemas.microsoft.com/office/drawing/2014/main" id="{93A7BBB1-D624-4F1F-BAF9-FFB649C7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29051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DE1"/>
          </a:solidFill>
          <a:ln xmlns:a="http://schemas.openxmlformats.org/drawingml/2006/main" w="11430">
            <a:solidFill>
              <a:srgbClr val="8A3C4A"/>
            </a:solidFill>
            <a:prstDash val="solid"/>
          </a:ln>
        </p:spPr>
      </p:sp>
      <p:sp>
        <p:nvSpPr>
          <p:cNvPr id="6" name="noise-label">
            <a:extLst xmlns:a="http://schemas.openxmlformats.org/drawingml/2006/main">
              <a:ext uri="{FF2B5EF4-FFF2-40B4-BE49-F238E27FC236}">
                <a16:creationId xmlns:a16="http://schemas.microsoft.com/office/drawing/2014/main" id="{2B077B82-E876-443A-B76F-507D7D66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66975"/>
            <a:ext cx="26003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DE1"/>
          </a:solidFill>
          <a:ln xmlns:a="http://schemas.openxmlformats.org/drawingml/2006/main" w="0">
            <a:solidFill>
              <a:srgbClr val="EEDDE1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A3C4A"/>
                </a:solidFill>
                <a:latin typeface="Arial"/>
                <a:ea typeface="Arial"/>
                <a:cs typeface="Arial"/>
              </a:defRPr>
            </a:pPr>
            <a:r>
              <a:t>Before: AI firehose</a:t>
            </a:r>
          </a:p>
        </p:txBody>
      </p:sp>
      <p:sp>
        <p:nvSpPr>
          <p:cNvPr id="7" name="noise-detail">
            <a:extLst xmlns:a="http://schemas.openxmlformats.org/drawingml/2006/main">
              <a:ext uri="{FF2B5EF4-FFF2-40B4-BE49-F238E27FC236}">
                <a16:creationId xmlns:a16="http://schemas.microsoft.com/office/drawing/2014/main" id="{60EB4074-4BF5-454C-9172-A66D66D7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6003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DE1"/>
          </a:solidFill>
          <a:ln xmlns:a="http://schemas.openxmlformats.org/drawingml/2006/main" w="0">
            <a:solidFill>
              <a:srgbClr val="EEDDE1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Twitter-style pressure, hype, tool lists, benchmark fights, papers without code, and stories with no action.</a:t>
            </a:r>
          </a:p>
        </p:txBody>
      </p:sp>
      <p:sp>
        <p:nvSpPr>
          <p:cNvPr id="8" name="profile-box">
            <a:extLst xmlns:a="http://schemas.openxmlformats.org/drawingml/2006/main">
              <a:ext uri="{FF2B5EF4-FFF2-40B4-BE49-F238E27FC236}">
                <a16:creationId xmlns:a16="http://schemas.microsoft.com/office/drawing/2014/main" id="{A6BAE6A9-7FE2-46BC-9458-FEEF2BBC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33625"/>
            <a:ext cx="29051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BD"/>
          </a:solidFill>
          <a:ln xmlns:a="http://schemas.openxmlformats.org/drawingml/2006/main" w="11430">
            <a:solidFill>
              <a:srgbClr val="B7791F"/>
            </a:solidFill>
            <a:prstDash val="solid"/>
          </a:ln>
        </p:spPr>
      </p:sp>
      <p:sp>
        <p:nvSpPr>
          <p:cNvPr id="9" name="profile-label">
            <a:extLst xmlns:a="http://schemas.openxmlformats.org/drawingml/2006/main">
              <a:ext uri="{FF2B5EF4-FFF2-40B4-BE49-F238E27FC236}">
                <a16:creationId xmlns:a16="http://schemas.microsoft.com/office/drawing/2014/main" id="{01FE0F9F-CD59-4B02-BFF7-B39C068D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66975"/>
            <a:ext cx="26003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BD"/>
          </a:solidFill>
          <a:ln xmlns:a="http://schemas.openxmlformats.org/drawingml/2006/main" w="0">
            <a:solidFill>
              <a:srgbClr val="F0DFB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t>Filter: profile.md</a:t>
            </a:r>
          </a:p>
        </p:txBody>
      </p:sp>
      <p:sp>
        <p:nvSpPr>
          <p:cNvPr id="10" name="profile-detail">
            <a:extLst xmlns:a="http://schemas.openxmlformats.org/drawingml/2006/main">
              <a:ext uri="{FF2B5EF4-FFF2-40B4-BE49-F238E27FC236}">
                <a16:creationId xmlns:a16="http://schemas.microsoft.com/office/drawing/2014/main" id="{1C869B78-7890-4DBA-B600-7652E827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62250"/>
            <a:ext cx="26003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BD"/>
          </a:solidFill>
          <a:ln xmlns:a="http://schemas.openxmlformats.org/drawingml/2006/main" w="0">
            <a:solidFill>
              <a:srgbClr val="F0DFB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Ranks shipping stories, practical tools, career angles, and labs that release usable things. Drops anything that fails the action test.</a:t>
            </a:r>
          </a:p>
        </p:txBody>
      </p:sp>
      <p:sp>
        <p:nvSpPr>
          <p:cNvPr id="11" name="brief-box">
            <a:extLst xmlns:a="http://schemas.openxmlformats.org/drawingml/2006/main">
              <a:ext uri="{FF2B5EF4-FFF2-40B4-BE49-F238E27FC236}">
                <a16:creationId xmlns:a16="http://schemas.microsoft.com/office/drawing/2014/main" id="{D93B6EFA-1C50-4658-9CA3-FF805C93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33625"/>
            <a:ext cx="29051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11430">
            <a:solidFill>
              <a:srgbClr val="2C6E63"/>
            </a:solidFill>
            <a:prstDash val="solid"/>
          </a:ln>
        </p:spPr>
      </p:sp>
      <p:sp>
        <p:nvSpPr>
          <p:cNvPr id="12" name="brief-label">
            <a:extLst xmlns:a="http://schemas.openxmlformats.org/drawingml/2006/main">
              <a:ext uri="{FF2B5EF4-FFF2-40B4-BE49-F238E27FC236}">
                <a16:creationId xmlns:a16="http://schemas.microsoft.com/office/drawing/2014/main" id="{24D70C9B-F67C-4A79-AA23-A68C4844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66975"/>
            <a:ext cx="26003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0">
            <a:solidFill>
              <a:srgbClr val="DCE9E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C6E63"/>
                </a:solidFill>
                <a:latin typeface="Arial"/>
                <a:ea typeface="Arial"/>
                <a:cs typeface="Arial"/>
              </a:defRPr>
            </a:pPr>
            <a:r>
              <a:t>After: morning brief</a:t>
            </a:r>
          </a:p>
        </p:txBody>
      </p:sp>
      <p:sp>
        <p:nvSpPr>
          <p:cNvPr id="13" name="brief-detail">
            <a:extLst xmlns:a="http://schemas.openxmlformats.org/drawingml/2006/main">
              <a:ext uri="{FF2B5EF4-FFF2-40B4-BE49-F238E27FC236}">
                <a16:creationId xmlns:a16="http://schemas.microsoft.com/office/drawing/2014/main" id="{6321E723-D79C-4808-9BEA-EF6A544E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62250"/>
            <a:ext cx="26003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0">
            <a:solidFill>
              <a:srgbClr val="DCE9E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A finite ranked page where each item answers: what changed, why it matters to me, and what can I try this week.</a:t>
            </a:r>
          </a:p>
        </p:txBody>
      </p:sp>
      <p:cxnSp>
        <p:nvCxnSpPr>
          <p:cNvPr id="14" name="noise-to-profile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09975" y="3429000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8A3C4A"/>
            </a:solidFill>
            <a:prstDash val="solid"/>
          </a:ln>
        </p:spPr>
      </p:cxnSp>
      <p:cxnSp>
        <p:nvCxnSpPr>
          <p:cNvPr id="15" name="profile-to-brief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553325" y="3429000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C6E63"/>
            </a:solidFill>
            <a:prstDash val="solid"/>
          </a:ln>
        </p:spPr>
      </p:cxnSp>
      <p:sp>
        <p:nvSpPr>
          <p:cNvPr id="16" name="action-dot">
            <a:extLst xmlns:a="http://schemas.openxmlformats.org/drawingml/2006/main">
              <a:ext uri="{FF2B5EF4-FFF2-40B4-BE49-F238E27FC236}">
                <a16:creationId xmlns:a16="http://schemas.microsoft.com/office/drawing/2014/main" id="{3B0FBB38-5D27-45C1-9171-7943FCE3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153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7" name="action-note">
            <a:extLst xmlns:a="http://schemas.openxmlformats.org/drawingml/2006/main">
              <a:ext uri="{FF2B5EF4-FFF2-40B4-BE49-F238E27FC236}">
                <a16:creationId xmlns:a16="http://schemas.microsoft.com/office/drawing/2014/main" id="{0D20FAF1-422C-4CEA-A8B8-A358D3EF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857750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41414"/>
                </a:solidFill>
                <a:latin typeface="Georgia"/>
                <a:ea typeface="Georgia"/>
                <a:cs typeface="Georgia"/>
              </a:defRPr>
            </a:pPr>
            <a:r>
              <a:t>The core test: if the model cannot write a real thing to try this week, the item should not appear.</a:t>
            </a:r>
          </a:p>
        </p:txBody>
      </p:sp>
      <p:sp>
        <p:nvSpPr>
          <p:cNvPr id="18" name="action-rule">
            <a:extLst xmlns:a="http://schemas.openxmlformats.org/drawingml/2006/main">
              <a:ext uri="{FF2B5EF4-FFF2-40B4-BE49-F238E27FC236}">
                <a16:creationId xmlns:a16="http://schemas.microsoft.com/office/drawing/2014/main" id="{3403ECA2-E681-4C22-BD61-9E5C60F5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387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6C5E2505-C740-4D44-83D0-10B7DAC6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20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03253FB3-9DCA-4DBD-A4E0-3AFD4DCE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948B"/>
                </a:solidFill>
                <a:latin typeface="Arial"/>
                <a:ea typeface="Arial"/>
                <a:cs typeface="Arial"/>
              </a:defRPr>
            </a:pPr>
            <a:r>
              <a:t>Source: profile.md, README.md</a:t>
            </a:r>
          </a:p>
        </p:txBody>
      </p:sp>
      <p:sp>
        <p:nvSpPr>
          <p:cNvPr id="21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E923A517-52BD-414C-BA40-0C3FE010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9A948B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1183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8BC6687E-71FA-4EA0-908A-37F68A82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420BA2A3-1B97-44AE-9A36-E2B60180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SYSTEM MAP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6B521F6D-1D96-4ADF-868F-7FFAB500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141414"/>
                </a:solidFill>
                <a:latin typeface="Georgia"/>
                <a:ea typeface="Georgia"/>
                <a:cs typeface="Georgia"/>
              </a:defRPr>
            </a:pPr>
            <a:r>
              <a:t>The repo is a simple daily pipeline from scrape to page.</a:t>
            </a:r>
          </a:p>
        </p:txBody>
      </p:sp>
      <p:sp>
        <p:nvSpPr>
          <p:cNvPr id="4" name="support-3">
            <a:extLst xmlns:a="http://schemas.openxmlformats.org/drawingml/2006/main">
              <a:ext uri="{FF2B5EF4-FFF2-40B4-BE49-F238E27FC236}">
                <a16:creationId xmlns:a16="http://schemas.microsoft.com/office/drawing/2014/main" id="{5F006397-F290-4CB0-A3A9-E47D1F20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91440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The architecture stays intentionally boring: files, JSON, GitHub Actions, and a Next.js page.</a:t>
            </a:r>
          </a:p>
        </p:txBody>
      </p:sp>
      <p:sp>
        <p:nvSpPr>
          <p:cNvPr id="5" name="profile-md-box">
            <a:extLst xmlns:a="http://schemas.openxmlformats.org/drawingml/2006/main">
              <a:ext uri="{FF2B5EF4-FFF2-40B4-BE49-F238E27FC236}">
                <a16:creationId xmlns:a16="http://schemas.microsoft.com/office/drawing/2014/main" id="{54EE67E5-57A5-4D3B-99E7-81D565D5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BD"/>
          </a:solidFill>
          <a:ln xmlns:a="http://schemas.openxmlformats.org/drawingml/2006/main" w="11430">
            <a:solidFill>
              <a:srgbClr val="B7791F"/>
            </a:solidFill>
            <a:prstDash val="solid"/>
          </a:ln>
        </p:spPr>
      </p:sp>
      <p:sp>
        <p:nvSpPr>
          <p:cNvPr id="6" name="profile-md-label">
            <a:extLst xmlns:a="http://schemas.openxmlformats.org/drawingml/2006/main">
              <a:ext uri="{FF2B5EF4-FFF2-40B4-BE49-F238E27FC236}">
                <a16:creationId xmlns:a16="http://schemas.microsoft.com/office/drawing/2014/main" id="{8F00CACE-18FD-4485-9CB9-8008679F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BD"/>
          </a:solidFill>
          <a:ln xmlns:a="http://schemas.openxmlformats.org/drawingml/2006/main" w="0">
            <a:solidFill>
              <a:srgbClr val="F0DFB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t>profile.md</a:t>
            </a:r>
          </a:p>
        </p:txBody>
      </p:sp>
      <p:sp>
        <p:nvSpPr>
          <p:cNvPr id="7" name="profile-md-detail">
            <a:extLst xmlns:a="http://schemas.openxmlformats.org/drawingml/2006/main">
              <a:ext uri="{FF2B5EF4-FFF2-40B4-BE49-F238E27FC236}">
                <a16:creationId xmlns:a16="http://schemas.microsoft.com/office/drawing/2014/main" id="{7148B76E-FD20-497D-BBDB-805E9DDD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6075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BD"/>
          </a:solidFill>
          <a:ln xmlns:a="http://schemas.openxmlformats.org/drawingml/2006/main" w="0">
            <a:solidFill>
              <a:srgbClr val="F0DFB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Personal relevance rules and action test.</a:t>
            </a:r>
          </a:p>
        </p:txBody>
      </p:sp>
      <p:sp>
        <p:nvSpPr>
          <p:cNvPr id="8" name="scraper-js-box">
            <a:extLst xmlns:a="http://schemas.openxmlformats.org/drawingml/2006/main">
              <a:ext uri="{FF2B5EF4-FFF2-40B4-BE49-F238E27FC236}">
                <a16:creationId xmlns:a16="http://schemas.microsoft.com/office/drawing/2014/main" id="{D24DCAFB-6DCB-4B33-9CDD-8DAC026C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5745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11430">
            <a:solidFill>
              <a:srgbClr val="2F5D8C"/>
            </a:solidFill>
            <a:prstDash val="solid"/>
          </a:ln>
        </p:spPr>
      </p:sp>
      <p:sp>
        <p:nvSpPr>
          <p:cNvPr id="9" name="scraper-js-label">
            <a:extLst xmlns:a="http://schemas.openxmlformats.org/drawingml/2006/main">
              <a:ext uri="{FF2B5EF4-FFF2-40B4-BE49-F238E27FC236}">
                <a16:creationId xmlns:a16="http://schemas.microsoft.com/office/drawing/2014/main" id="{E5AE6134-5D31-4755-A645-3D44599B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5908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0">
            <a:solidFill>
              <a:srgbClr val="DCE6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5D8C"/>
                </a:solidFill>
                <a:latin typeface="Arial"/>
                <a:ea typeface="Arial"/>
                <a:cs typeface="Arial"/>
              </a:defRPr>
            </a:pPr>
            <a:r>
              <a:t>scraper.js</a:t>
            </a:r>
          </a:p>
        </p:txBody>
      </p:sp>
      <p:sp>
        <p:nvSpPr>
          <p:cNvPr id="10" name="scraper-js-detail">
            <a:extLst xmlns:a="http://schemas.openxmlformats.org/drawingml/2006/main">
              <a:ext uri="{FF2B5EF4-FFF2-40B4-BE49-F238E27FC236}">
                <a16:creationId xmlns:a16="http://schemas.microsoft.com/office/drawing/2014/main" id="{BD1CCA28-97D9-42A2-B307-859634B8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886075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0">
            <a:solidFill>
              <a:srgbClr val="DCE6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Fetches free sources and normalizes item shape.</a:t>
            </a:r>
          </a:p>
        </p:txBody>
      </p:sp>
      <p:sp>
        <p:nvSpPr>
          <p:cNvPr id="11" name="raw-json-box">
            <a:extLst xmlns:a="http://schemas.openxmlformats.org/drawingml/2006/main">
              <a:ext uri="{FF2B5EF4-FFF2-40B4-BE49-F238E27FC236}">
                <a16:creationId xmlns:a16="http://schemas.microsoft.com/office/drawing/2014/main" id="{8662BF46-0002-44CC-B215-9A3493FA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5745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2F5D8C"/>
            </a:solidFill>
            <a:prstDash val="solid"/>
          </a:ln>
        </p:spPr>
      </p:sp>
      <p:sp>
        <p:nvSpPr>
          <p:cNvPr id="12" name="raw-json-label">
            <a:extLst xmlns:a="http://schemas.openxmlformats.org/drawingml/2006/main">
              <a:ext uri="{FF2B5EF4-FFF2-40B4-BE49-F238E27FC236}">
                <a16:creationId xmlns:a16="http://schemas.microsoft.com/office/drawing/2014/main" id="{714BFFF9-74B1-45A0-BC2E-271F2ED3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908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5D8C"/>
                </a:solidFill>
                <a:latin typeface="Arial"/>
                <a:ea typeface="Arial"/>
                <a:cs typeface="Arial"/>
              </a:defRPr>
            </a:pPr>
            <a:r>
              <a:t>data/date.json</a:t>
            </a:r>
          </a:p>
        </p:txBody>
      </p:sp>
      <p:sp>
        <p:nvSpPr>
          <p:cNvPr id="13" name="raw-json-detail">
            <a:extLst xmlns:a="http://schemas.openxmlformats.org/drawingml/2006/main">
              <a:ext uri="{FF2B5EF4-FFF2-40B4-BE49-F238E27FC236}">
                <a16:creationId xmlns:a16="http://schemas.microsoft.com/office/drawing/2014/main" id="{F27A4074-C59F-41C3-92DD-853DE3E2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86075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Raw daily items tracked in git.</a:t>
            </a:r>
          </a:p>
        </p:txBody>
      </p:sp>
      <p:sp>
        <p:nvSpPr>
          <p:cNvPr id="14" name="brain-js-box">
            <a:extLst xmlns:a="http://schemas.openxmlformats.org/drawingml/2006/main">
              <a:ext uri="{FF2B5EF4-FFF2-40B4-BE49-F238E27FC236}">
                <a16:creationId xmlns:a16="http://schemas.microsoft.com/office/drawing/2014/main" id="{E6E6421F-AD6D-4B35-A064-F86FB47F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5745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11430">
            <a:solidFill>
              <a:srgbClr val="2C6E63"/>
            </a:solidFill>
            <a:prstDash val="solid"/>
          </a:ln>
        </p:spPr>
      </p:sp>
      <p:sp>
        <p:nvSpPr>
          <p:cNvPr id="15" name="brain-js-label">
            <a:extLst xmlns:a="http://schemas.openxmlformats.org/drawingml/2006/main">
              <a:ext uri="{FF2B5EF4-FFF2-40B4-BE49-F238E27FC236}">
                <a16:creationId xmlns:a16="http://schemas.microsoft.com/office/drawing/2014/main" id="{EB2FDE86-0B58-4769-A020-EAF09A2B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5908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0">
            <a:solidFill>
              <a:srgbClr val="DCE9E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C6E63"/>
                </a:solidFill>
                <a:latin typeface="Arial"/>
                <a:ea typeface="Arial"/>
                <a:cs typeface="Arial"/>
              </a:defRPr>
            </a:pPr>
            <a:r>
              <a:t>brain.js</a:t>
            </a:r>
          </a:p>
        </p:txBody>
      </p:sp>
      <p:sp>
        <p:nvSpPr>
          <p:cNvPr id="16" name="brain-js-detail">
            <a:extLst xmlns:a="http://schemas.openxmlformats.org/drawingml/2006/main">
              <a:ext uri="{FF2B5EF4-FFF2-40B4-BE49-F238E27FC236}">
                <a16:creationId xmlns:a16="http://schemas.microsoft.com/office/drawing/2014/main" id="{B2F2003B-5CA1-4BD5-8490-D6CD6D62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886075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0">
            <a:solidFill>
              <a:srgbClr val="DCE9E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Gemini filter + brief writer.</a:t>
            </a:r>
          </a:p>
        </p:txBody>
      </p:sp>
      <p:sp>
        <p:nvSpPr>
          <p:cNvPr id="17" name="brief-json-box">
            <a:extLst xmlns:a="http://schemas.openxmlformats.org/drawingml/2006/main">
              <a:ext uri="{FF2B5EF4-FFF2-40B4-BE49-F238E27FC236}">
                <a16:creationId xmlns:a16="http://schemas.microsoft.com/office/drawing/2014/main" id="{963CEC14-B677-4186-8D86-088AD254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2C6E63"/>
            </a:solidFill>
            <a:prstDash val="solid"/>
          </a:ln>
        </p:spPr>
      </p:sp>
      <p:sp>
        <p:nvSpPr>
          <p:cNvPr id="18" name="brief-json-label">
            <a:extLst xmlns:a="http://schemas.openxmlformats.org/drawingml/2006/main">
              <a:ext uri="{FF2B5EF4-FFF2-40B4-BE49-F238E27FC236}">
                <a16:creationId xmlns:a16="http://schemas.microsoft.com/office/drawing/2014/main" id="{05E87B1D-3242-4861-9535-07B50BD7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C6E63"/>
                </a:solidFill>
                <a:latin typeface="Arial"/>
                <a:ea typeface="Arial"/>
                <a:cs typeface="Arial"/>
              </a:defRPr>
            </a:pPr>
            <a:r>
              <a:t>brief.json</a:t>
            </a:r>
          </a:p>
        </p:txBody>
      </p:sp>
      <p:sp>
        <p:nvSpPr>
          <p:cNvPr id="19" name="brief-json-detail">
            <a:extLst xmlns:a="http://schemas.openxmlformats.org/drawingml/2006/main">
              <a:ext uri="{FF2B5EF4-FFF2-40B4-BE49-F238E27FC236}">
                <a16:creationId xmlns:a16="http://schemas.microsoft.com/office/drawing/2014/main" id="{52B3E22D-C364-4457-AD0E-F3619669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86075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Ranked items for the web app.</a:t>
            </a:r>
          </a:p>
        </p:txBody>
      </p:sp>
      <p:sp>
        <p:nvSpPr>
          <p:cNvPr id="20" name="web-box">
            <a:extLst xmlns:a="http://schemas.openxmlformats.org/drawingml/2006/main">
              <a:ext uri="{FF2B5EF4-FFF2-40B4-BE49-F238E27FC236}">
                <a16:creationId xmlns:a16="http://schemas.microsoft.com/office/drawing/2014/main" id="{2938ACEE-7AE1-4216-88F4-E8111CB0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8625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BD"/>
          </a:solidFill>
          <a:ln xmlns:a="http://schemas.openxmlformats.org/drawingml/2006/main" w="11430">
            <a:solidFill>
              <a:srgbClr val="B7791F"/>
            </a:solidFill>
            <a:prstDash val="solid"/>
          </a:ln>
        </p:spPr>
      </p:sp>
      <p:sp>
        <p:nvSpPr>
          <p:cNvPr id="21" name="web-label">
            <a:extLst xmlns:a="http://schemas.openxmlformats.org/drawingml/2006/main">
              <a:ext uri="{FF2B5EF4-FFF2-40B4-BE49-F238E27FC236}">
                <a16:creationId xmlns:a16="http://schemas.microsoft.com/office/drawing/2014/main" id="{BD3A636A-C0CA-43AF-9EC6-81A9BC7F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196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BD"/>
          </a:solidFill>
          <a:ln xmlns:a="http://schemas.openxmlformats.org/drawingml/2006/main" w="0">
            <a:solidFill>
              <a:srgbClr val="F0DFB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t>web/</a:t>
            </a:r>
          </a:p>
        </p:txBody>
      </p:sp>
      <p:sp>
        <p:nvSpPr>
          <p:cNvPr id="22" name="web-detail">
            <a:extLst xmlns:a="http://schemas.openxmlformats.org/drawingml/2006/main">
              <a:ext uri="{FF2B5EF4-FFF2-40B4-BE49-F238E27FC236}">
                <a16:creationId xmlns:a16="http://schemas.microsoft.com/office/drawing/2014/main" id="{0097D156-E589-4009-8C30-DF4DFD4D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14875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BD"/>
          </a:solidFill>
          <a:ln xmlns:a="http://schemas.openxmlformats.org/drawingml/2006/main" w="0">
            <a:solidFill>
              <a:srgbClr val="F0DFB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Next.js morning page reads the brief.</a:t>
            </a:r>
          </a:p>
        </p:txBody>
      </p:sp>
      <p:cxnSp>
        <p:nvCxnSpPr>
          <p:cNvPr id="23" name="profile-context-to-scrape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86000" y="30194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D8D0C3"/>
            </a:solidFill>
            <a:prstDash val="solid"/>
          </a:ln>
        </p:spPr>
      </p:cxnSp>
      <p:cxnSp>
        <p:nvCxnSpPr>
          <p:cNvPr id="24" name="scrape-to-raw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333875" y="30194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F5D8C"/>
            </a:solidFill>
            <a:prstDash val="solid"/>
          </a:ln>
        </p:spPr>
      </p:cxnSp>
      <p:cxnSp>
        <p:nvCxnSpPr>
          <p:cNvPr id="25" name="raw-to-brain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381750" y="30194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C6E63"/>
            </a:solidFill>
            <a:prstDash val="solid"/>
          </a:ln>
        </p:spPr>
      </p:cxnSp>
      <p:cxnSp>
        <p:nvCxnSpPr>
          <p:cNvPr id="26" name="brain-to-brief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429625" y="30194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C6E63"/>
            </a:solidFill>
            <a:prstDash val="solid"/>
          </a:ln>
        </p:spPr>
      </p:cxnSp>
      <p:cxnSp>
        <p:nvCxnSpPr>
          <p:cNvPr id="27" name="brief-to-web"/>
          <p:cNvCxnSpPr>
            <a:stCxn xmlns:a="http://schemas.openxmlformats.org/drawingml/2006/main" id="17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9667875" y="3581400"/>
            <a:ext cx="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7791F"/>
            </a:solidFill>
            <a:prstDash val="solid"/>
          </a:ln>
        </p:spPr>
      </p:cxnSp>
      <p:sp>
        <p:nvSpPr>
          <p:cNvPr id="28" name="automation-band">
            <a:extLst xmlns:a="http://schemas.openxmlformats.org/drawingml/2006/main">
              <a:ext uri="{FF2B5EF4-FFF2-40B4-BE49-F238E27FC236}">
                <a16:creationId xmlns:a16="http://schemas.microsoft.com/office/drawing/2014/main" id="{56422CE8-D79E-413D-BB8E-8D36F77D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6305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9" name="automation-title">
            <a:extLst xmlns:a="http://schemas.openxmlformats.org/drawingml/2006/main">
              <a:ext uri="{FF2B5EF4-FFF2-40B4-BE49-F238E27FC236}">
                <a16:creationId xmlns:a16="http://schemas.microsoft.com/office/drawing/2014/main" id="{AB8C64D8-619E-4F57-BF5C-8C58ABE7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5D8C"/>
                </a:solidFill>
                <a:latin typeface="Arial"/>
                <a:ea typeface="Arial"/>
                <a:cs typeface="Arial"/>
              </a:defRPr>
            </a:pPr>
            <a:r>
              <a:t>Daily automation</a:t>
            </a:r>
          </a:p>
        </p:txBody>
      </p:sp>
      <p:sp>
        <p:nvSpPr>
          <p:cNvPr id="30" name="automation-copy">
            <a:extLst xmlns:a="http://schemas.openxmlformats.org/drawingml/2006/main">
              <a:ext uri="{FF2B5EF4-FFF2-40B4-BE49-F238E27FC236}">
                <a16:creationId xmlns:a16="http://schemas.microsoft.com/office/drawing/2014/main" id="{FC57C4A4-DA0A-4A2E-95EA-469406A1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561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GitHub Actions runs scrape + brief at 00:30 UTC, then commits fresh brief files back to the repo.</a:t>
            </a:r>
          </a:p>
        </p:txBody>
      </p:sp>
      <p:sp>
        <p:nvSpPr>
          <p:cNvPr id="31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C9D81106-D9E7-408B-803F-0CE535E1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32" name="footer-source-3">
            <a:extLst xmlns:a="http://schemas.openxmlformats.org/drawingml/2006/main">
              <a:ext uri="{FF2B5EF4-FFF2-40B4-BE49-F238E27FC236}">
                <a16:creationId xmlns:a16="http://schemas.microsoft.com/office/drawing/2014/main" id="{9F80C2E8-00AF-4E30-9851-2B18C790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948B"/>
                </a:solidFill>
                <a:latin typeface="Arial"/>
                <a:ea typeface="Arial"/>
                <a:cs typeface="Arial"/>
              </a:defRPr>
            </a:pPr>
            <a:r>
              <a:t>Source: AGENTS.md, scraper.js, brain.js, web/app/page.js, .github/workflows/daily.yml</a:t>
            </a:r>
          </a:p>
        </p:txBody>
      </p:sp>
      <p:sp>
        <p:nvSpPr>
          <p:cNvPr id="33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6534DD9F-4F5C-453D-BB18-7FD17CF4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9A948B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74307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53E2817F-1B73-43D5-936F-7D29F65D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54E3207A-7ECC-4649-8589-C413B609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SOURCE LAYER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24E53E50-F41E-419A-A664-8575EFAA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141414"/>
                </a:solidFill>
                <a:latin typeface="Georgia"/>
                <a:ea typeface="Georgia"/>
                <a:cs typeface="Georgia"/>
              </a:defRPr>
            </a:pPr>
            <a:r>
              <a:t>The source layer is free, small, and intentionally opinionated.</a:t>
            </a:r>
          </a:p>
        </p:txBody>
      </p:sp>
      <p:sp>
        <p:nvSpPr>
          <p:cNvPr id="4" name="support-4">
            <a:extLst xmlns:a="http://schemas.openxmlformats.org/drawingml/2006/main">
              <a:ext uri="{FF2B5EF4-FFF2-40B4-BE49-F238E27FC236}">
                <a16:creationId xmlns:a16="http://schemas.microsoft.com/office/drawing/2014/main" id="{FA59ACC5-3FF8-49F3-B7CA-991FF25D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91440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The project avoids paid Twitter/API complexity and uses sources that already surface builder-relevant AI news.</a:t>
            </a:r>
          </a:p>
        </p:txBody>
      </p:sp>
      <p:sp>
        <p:nvSpPr>
          <p:cNvPr id="5" name="free-pill-pill">
            <a:extLst xmlns:a="http://schemas.openxmlformats.org/drawingml/2006/main">
              <a:ext uri="{FF2B5EF4-FFF2-40B4-BE49-F238E27FC236}">
                <a16:creationId xmlns:a16="http://schemas.microsoft.com/office/drawing/2014/main" id="{EA81B4AB-741C-41F7-A9F6-5CA9664D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2C6E63"/>
            </a:solidFill>
            <a:prstDash val="solid"/>
          </a:ln>
        </p:spPr>
      </p:sp>
      <p:sp>
        <p:nvSpPr>
          <p:cNvPr id="6" name="free-pill-text">
            <a:extLst xmlns:a="http://schemas.openxmlformats.org/drawingml/2006/main">
              <a:ext uri="{FF2B5EF4-FFF2-40B4-BE49-F238E27FC236}">
                <a16:creationId xmlns:a16="http://schemas.microsoft.com/office/drawing/2014/main" id="{B97EF36D-5070-4EBA-A07D-70D930D2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2407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0">
            <a:solidFill>
              <a:srgbClr val="DCE9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C6E63"/>
                </a:solidFill>
                <a:latin typeface="Arial"/>
                <a:ea typeface="Arial"/>
                <a:cs typeface="Arial"/>
              </a:defRPr>
            </a:pPr>
            <a:r>
              <a:t>FREE ONLY</a:t>
            </a:r>
          </a:p>
        </p:txBody>
      </p:sp>
      <p:sp>
        <p:nvSpPr>
          <p:cNvPr id="7" name="no-paid-pill-pill">
            <a:extLst xmlns:a="http://schemas.openxmlformats.org/drawingml/2006/main">
              <a:ext uri="{FF2B5EF4-FFF2-40B4-BE49-F238E27FC236}">
                <a16:creationId xmlns:a16="http://schemas.microsoft.com/office/drawing/2014/main" id="{4CA7D062-40D8-4DB3-B603-C0B9F3DF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7645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DDE1"/>
          </a:solidFill>
          <a:ln xmlns:a="http://schemas.openxmlformats.org/drawingml/2006/main" w="9525">
            <a:solidFill>
              <a:srgbClr val="8A3C4A"/>
            </a:solidFill>
            <a:prstDash val="solid"/>
          </a:ln>
        </p:spPr>
      </p:sp>
      <p:sp>
        <p:nvSpPr>
          <p:cNvPr id="8" name="no-paid-pill-text">
            <a:extLst xmlns:a="http://schemas.openxmlformats.org/drawingml/2006/main">
              <a:ext uri="{FF2B5EF4-FFF2-40B4-BE49-F238E27FC236}">
                <a16:creationId xmlns:a16="http://schemas.microsoft.com/office/drawing/2014/main" id="{D6D8A613-39A9-4CE6-A70F-861F1120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24075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DE1"/>
          </a:solidFill>
          <a:ln xmlns:a="http://schemas.openxmlformats.org/drawingml/2006/main" w="0">
            <a:solidFill>
              <a:srgbClr val="EEDD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8A3C4A"/>
                </a:solidFill>
                <a:latin typeface="Arial"/>
                <a:ea typeface="Arial"/>
                <a:cs typeface="Arial"/>
              </a:defRPr>
            </a:pPr>
            <a:r>
              <a:t>NO PAID APIS</a:t>
            </a:r>
          </a:p>
        </p:txBody>
      </p:sp>
      <p:sp>
        <p:nvSpPr>
          <p:cNvPr id="9" name="normalized-pill-pill">
            <a:extLst xmlns:a="http://schemas.openxmlformats.org/drawingml/2006/main">
              <a:ext uri="{FF2B5EF4-FFF2-40B4-BE49-F238E27FC236}">
                <a16:creationId xmlns:a16="http://schemas.microsoft.com/office/drawing/2014/main" id="{076AFB70-55D2-4586-A2CF-E840DF0D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7645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2F5D8C"/>
            </a:solidFill>
            <a:prstDash val="solid"/>
          </a:ln>
        </p:spPr>
      </p:sp>
      <p:sp>
        <p:nvSpPr>
          <p:cNvPr id="10" name="normalized-pill-text">
            <a:extLst xmlns:a="http://schemas.openxmlformats.org/drawingml/2006/main">
              <a:ext uri="{FF2B5EF4-FFF2-40B4-BE49-F238E27FC236}">
                <a16:creationId xmlns:a16="http://schemas.microsoft.com/office/drawing/2014/main" id="{AE125669-18AC-4AFF-919C-C7990020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24075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0">
            <a:solidFill>
              <a:srgbClr val="DCE6F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F5D8C"/>
                </a:solidFill>
                <a:latin typeface="Arial"/>
                <a:ea typeface="Arial"/>
                <a:cs typeface="Arial"/>
              </a:defRPr>
            </a:pPr>
            <a:r>
              <a:t>NORMALIZED ITEM SHAPE</a:t>
            </a:r>
          </a:p>
        </p:txBody>
      </p:sp>
      <p:sp>
        <p:nvSpPr>
          <p:cNvPr id="11" name="source-header-0">
            <a:extLst xmlns:a="http://schemas.openxmlformats.org/drawingml/2006/main">
              <a:ext uri="{FF2B5EF4-FFF2-40B4-BE49-F238E27FC236}">
                <a16:creationId xmlns:a16="http://schemas.microsoft.com/office/drawing/2014/main" id="{D0992B2D-8B1A-4197-9F42-AE5CEA49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solidFill>
              <a:srgbClr val="141414"/>
            </a:solidFill>
            <a:prstDash val="solid"/>
          </a:ln>
        </p:spPr>
      </p:sp>
      <p:sp>
        <p:nvSpPr>
          <p:cNvPr id="12" name="source-header-text-0">
            <a:extLst xmlns:a="http://schemas.openxmlformats.org/drawingml/2006/main">
              <a:ext uri="{FF2B5EF4-FFF2-40B4-BE49-F238E27FC236}">
                <a16:creationId xmlns:a16="http://schemas.microsoft.com/office/drawing/2014/main" id="{A25D7047-5680-44B1-9C52-2A13C62F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7975"/>
            <a:ext cx="1685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solidFill>
              <a:srgbClr val="14141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Source</a:t>
            </a:r>
          </a:p>
        </p:txBody>
      </p:sp>
      <p:sp>
        <p:nvSpPr>
          <p:cNvPr id="13" name="source-header-1">
            <a:extLst xmlns:a="http://schemas.openxmlformats.org/drawingml/2006/main">
              <a:ext uri="{FF2B5EF4-FFF2-40B4-BE49-F238E27FC236}">
                <a16:creationId xmlns:a16="http://schemas.microsoft.com/office/drawing/2014/main" id="{46AD6B6B-AF35-4242-B49B-B1C56363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7432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solidFill>
              <a:srgbClr val="141414"/>
            </a:solidFill>
            <a:prstDash val="solid"/>
          </a:ln>
        </p:spPr>
      </p:sp>
      <p:sp>
        <p:nvSpPr>
          <p:cNvPr id="14" name="source-header-text-1">
            <a:extLst xmlns:a="http://schemas.openxmlformats.org/drawingml/2006/main">
              <a:ext uri="{FF2B5EF4-FFF2-40B4-BE49-F238E27FC236}">
                <a16:creationId xmlns:a16="http://schemas.microsoft.com/office/drawing/2014/main" id="{548FC6DF-C1B2-4602-91CD-47F72BFB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47975"/>
            <a:ext cx="259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solidFill>
              <a:srgbClr val="14141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Collection method</a:t>
            </a:r>
          </a:p>
        </p:txBody>
      </p:sp>
      <p:sp>
        <p:nvSpPr>
          <p:cNvPr id="15" name="source-header-2">
            <a:extLst xmlns:a="http://schemas.openxmlformats.org/drawingml/2006/main">
              <a:ext uri="{FF2B5EF4-FFF2-40B4-BE49-F238E27FC236}">
                <a16:creationId xmlns:a16="http://schemas.microsoft.com/office/drawing/2014/main" id="{2EEA31AC-C1FC-47C4-89B5-2F59B307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7432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solidFill>
              <a:srgbClr val="141414"/>
            </a:solidFill>
            <a:prstDash val="solid"/>
          </a:ln>
        </p:spPr>
      </p:sp>
      <p:sp>
        <p:nvSpPr>
          <p:cNvPr id="16" name="source-header-text-2">
            <a:extLst xmlns:a="http://schemas.openxmlformats.org/drawingml/2006/main">
              <a:ext uri="{FF2B5EF4-FFF2-40B4-BE49-F238E27FC236}">
                <a16:creationId xmlns:a16="http://schemas.microsoft.com/office/drawing/2014/main" id="{9BFC0538-0EAB-4CAB-A370-3B3027F2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47975"/>
            <a:ext cx="468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solidFill>
              <a:srgbClr val="14141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Why it belongs</a:t>
            </a:r>
          </a:p>
        </p:txBody>
      </p:sp>
      <p:sp>
        <p:nvSpPr>
          <p:cNvPr id="17" name="source-cell-0-0">
            <a:extLst xmlns:a="http://schemas.openxmlformats.org/drawingml/2006/main">
              <a:ext uri="{FF2B5EF4-FFF2-40B4-BE49-F238E27FC236}">
                <a16:creationId xmlns:a16="http://schemas.microsoft.com/office/drawing/2014/main" id="{C3BFF71F-E3F2-48FF-8549-D6CE4B57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18" name="source-cell-text-0-0">
            <a:extLst xmlns:a="http://schemas.openxmlformats.org/drawingml/2006/main">
              <a:ext uri="{FF2B5EF4-FFF2-40B4-BE49-F238E27FC236}">
                <a16:creationId xmlns:a16="http://schemas.microsoft.com/office/drawing/2014/main" id="{2CBC126C-AA15-4256-B83D-29F242FF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05175"/>
            <a:ext cx="16859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HN Algolia</a:t>
            </a:r>
          </a:p>
        </p:txBody>
      </p:sp>
      <p:sp>
        <p:nvSpPr>
          <p:cNvPr id="19" name="source-cell-0-1">
            <a:extLst xmlns:a="http://schemas.openxmlformats.org/drawingml/2006/main">
              <a:ext uri="{FF2B5EF4-FFF2-40B4-BE49-F238E27FC236}">
                <a16:creationId xmlns:a16="http://schemas.microsoft.com/office/drawing/2014/main" id="{3D930DDD-54A7-4260-8955-5DD012BF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1432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20" name="source-cell-text-0-1">
            <a:extLst xmlns:a="http://schemas.openxmlformats.org/drawingml/2006/main">
              <a:ext uri="{FF2B5EF4-FFF2-40B4-BE49-F238E27FC236}">
                <a16:creationId xmlns:a16="http://schemas.microsoft.com/office/drawing/2014/main" id="{1F57B58D-4B68-4F29-A8F8-3B279FFE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05175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Keyword search over last 24h</a:t>
            </a:r>
          </a:p>
        </p:txBody>
      </p:sp>
      <p:sp>
        <p:nvSpPr>
          <p:cNvPr id="21" name="source-cell-0-2">
            <a:extLst xmlns:a="http://schemas.openxmlformats.org/drawingml/2006/main">
              <a:ext uri="{FF2B5EF4-FFF2-40B4-BE49-F238E27FC236}">
                <a16:creationId xmlns:a16="http://schemas.microsoft.com/office/drawing/2014/main" id="{D7C67E19-337F-45A7-B936-79896943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1432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22" name="source-cell-text-0-2">
            <a:extLst xmlns:a="http://schemas.openxmlformats.org/drawingml/2006/main">
              <a:ext uri="{FF2B5EF4-FFF2-40B4-BE49-F238E27FC236}">
                <a16:creationId xmlns:a16="http://schemas.microsoft.com/office/drawing/2014/main" id="{4E16F224-628E-4136-A61F-F4B9E116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305175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AI, LLM, Claude, Anthropic, agent, codex</a:t>
            </a:r>
          </a:p>
        </p:txBody>
      </p:sp>
      <p:sp>
        <p:nvSpPr>
          <p:cNvPr id="23" name="source-cell-1-0">
            <a:extLst xmlns:a="http://schemas.openxmlformats.org/drawingml/2006/main">
              <a:ext uri="{FF2B5EF4-FFF2-40B4-BE49-F238E27FC236}">
                <a16:creationId xmlns:a16="http://schemas.microsoft.com/office/drawing/2014/main" id="{6D55E448-3255-482E-A448-76835F12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24" name="source-cell-text-1-0">
            <a:extLst xmlns:a="http://schemas.openxmlformats.org/drawingml/2006/main">
              <a:ext uri="{FF2B5EF4-FFF2-40B4-BE49-F238E27FC236}">
                <a16:creationId xmlns:a16="http://schemas.microsoft.com/office/drawing/2014/main" id="{74EC3130-C38C-4496-9D8E-321199BC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71925"/>
            <a:ext cx="16859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0">
            <a:solidFill>
              <a:srgbClr val="F1EF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Reddit</a:t>
            </a:r>
          </a:p>
        </p:txBody>
      </p:sp>
      <p:sp>
        <p:nvSpPr>
          <p:cNvPr id="25" name="source-cell-1-1">
            <a:extLst xmlns:a="http://schemas.openxmlformats.org/drawingml/2006/main">
              <a:ext uri="{FF2B5EF4-FFF2-40B4-BE49-F238E27FC236}">
                <a16:creationId xmlns:a16="http://schemas.microsoft.com/office/drawing/2014/main" id="{078C47BC-6673-4F46-8E08-2B2A4C46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8100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26" name="source-cell-text-1-1">
            <a:extLst xmlns:a="http://schemas.openxmlformats.org/drawingml/2006/main">
              <a:ext uri="{FF2B5EF4-FFF2-40B4-BE49-F238E27FC236}">
                <a16:creationId xmlns:a16="http://schemas.microsoft.com/office/drawing/2014/main" id="{3B946236-7479-4520-B268-81215779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971925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0">
            <a:solidFill>
              <a:srgbClr val="F1EF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Public JSON, no auth</a:t>
            </a:r>
          </a:p>
        </p:txBody>
      </p:sp>
      <p:sp>
        <p:nvSpPr>
          <p:cNvPr id="27" name="source-cell-1-2">
            <a:extLst xmlns:a="http://schemas.openxmlformats.org/drawingml/2006/main">
              <a:ext uri="{FF2B5EF4-FFF2-40B4-BE49-F238E27FC236}">
                <a16:creationId xmlns:a16="http://schemas.microsoft.com/office/drawing/2014/main" id="{CB72A959-838C-4FDB-9CAC-7E37B060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8100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28" name="source-cell-text-1-2">
            <a:extLst xmlns:a="http://schemas.openxmlformats.org/drawingml/2006/main">
              <a:ext uri="{FF2B5EF4-FFF2-40B4-BE49-F238E27FC236}">
                <a16:creationId xmlns:a16="http://schemas.microsoft.com/office/drawing/2014/main" id="{F4B2DFFC-3B73-4CD4-946B-5F1DE11B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71925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0">
            <a:solidFill>
              <a:srgbClr val="F1EF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r/LocalLLaMA and r/ClaudeAI top/day</a:t>
            </a:r>
          </a:p>
        </p:txBody>
      </p:sp>
      <p:sp>
        <p:nvSpPr>
          <p:cNvPr id="29" name="source-cell-2-0">
            <a:extLst xmlns:a="http://schemas.openxmlformats.org/drawingml/2006/main">
              <a:ext uri="{FF2B5EF4-FFF2-40B4-BE49-F238E27FC236}">
                <a16:creationId xmlns:a16="http://schemas.microsoft.com/office/drawing/2014/main" id="{ACCE3546-6ED5-4763-88A2-922B5942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30" name="source-cell-text-2-0">
            <a:extLst xmlns:a="http://schemas.openxmlformats.org/drawingml/2006/main">
              <a:ext uri="{FF2B5EF4-FFF2-40B4-BE49-F238E27FC236}">
                <a16:creationId xmlns:a16="http://schemas.microsoft.com/office/drawing/2014/main" id="{35258A15-2D37-4335-8EA1-BDC5DBE4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38675"/>
            <a:ext cx="16859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Simon Willison</a:t>
            </a:r>
          </a:p>
        </p:txBody>
      </p:sp>
      <p:sp>
        <p:nvSpPr>
          <p:cNvPr id="31" name="source-cell-2-1">
            <a:extLst xmlns:a="http://schemas.openxmlformats.org/drawingml/2006/main">
              <a:ext uri="{FF2B5EF4-FFF2-40B4-BE49-F238E27FC236}">
                <a16:creationId xmlns:a16="http://schemas.microsoft.com/office/drawing/2014/main" id="{1CD12277-CE6F-4B8F-B638-DFBDFB91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4767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32" name="source-cell-text-2-1">
            <a:extLst xmlns:a="http://schemas.openxmlformats.org/drawingml/2006/main">
              <a:ext uri="{FF2B5EF4-FFF2-40B4-BE49-F238E27FC236}">
                <a16:creationId xmlns:a16="http://schemas.microsoft.com/office/drawing/2014/main" id="{1F6C454A-8D75-4CBB-B573-07E21A50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638675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Atom feed</a:t>
            </a:r>
          </a:p>
        </p:txBody>
      </p:sp>
      <p:sp>
        <p:nvSpPr>
          <p:cNvPr id="33" name="source-cell-2-2">
            <a:extLst xmlns:a="http://schemas.openxmlformats.org/drawingml/2006/main">
              <a:ext uri="{FF2B5EF4-FFF2-40B4-BE49-F238E27FC236}">
                <a16:creationId xmlns:a16="http://schemas.microsoft.com/office/drawing/2014/main" id="{C04CFD8A-8559-45A5-BB13-9E57C423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4767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34" name="source-cell-text-2-2">
            <a:extLst xmlns:a="http://schemas.openxmlformats.org/drawingml/2006/main">
              <a:ext uri="{FF2B5EF4-FFF2-40B4-BE49-F238E27FC236}">
                <a16:creationId xmlns:a16="http://schemas.microsoft.com/office/drawing/2014/main" id="{4525F479-51ED-4EC8-8909-AD9E86B3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38675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Low-noise technical blog source</a:t>
            </a:r>
          </a:p>
        </p:txBody>
      </p:sp>
      <p:sp>
        <p:nvSpPr>
          <p:cNvPr id="35" name="source-cell-3-0">
            <a:extLst xmlns:a="http://schemas.openxmlformats.org/drawingml/2006/main">
              <a:ext uri="{FF2B5EF4-FFF2-40B4-BE49-F238E27FC236}">
                <a16:creationId xmlns:a16="http://schemas.microsoft.com/office/drawing/2014/main" id="{6EE49DBC-8E7C-4080-B75A-40FBB0F3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36" name="source-cell-text-3-0">
            <a:extLst xmlns:a="http://schemas.openxmlformats.org/drawingml/2006/main">
              <a:ext uri="{FF2B5EF4-FFF2-40B4-BE49-F238E27FC236}">
                <a16:creationId xmlns:a16="http://schemas.microsoft.com/office/drawing/2014/main" id="{34BEF18B-0B65-4B14-BE36-97A8B029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6859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0">
            <a:solidFill>
              <a:srgbClr val="F1EF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HF Daily Papers</a:t>
            </a:r>
          </a:p>
        </p:txBody>
      </p:sp>
      <p:sp>
        <p:nvSpPr>
          <p:cNvPr id="37" name="source-cell-3-1">
            <a:extLst xmlns:a="http://schemas.openxmlformats.org/drawingml/2006/main">
              <a:ext uri="{FF2B5EF4-FFF2-40B4-BE49-F238E27FC236}">
                <a16:creationId xmlns:a16="http://schemas.microsoft.com/office/drawing/2014/main" id="{D5514348-E8B2-4D22-85F9-9C723390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1435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38" name="source-cell-text-3-1">
            <a:extLst xmlns:a="http://schemas.openxmlformats.org/drawingml/2006/main">
              <a:ext uri="{FF2B5EF4-FFF2-40B4-BE49-F238E27FC236}">
                <a16:creationId xmlns:a16="http://schemas.microsoft.com/office/drawing/2014/main" id="{1BE8C22B-E1D1-40F9-953B-C68995DF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305425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0">
            <a:solidFill>
              <a:srgbClr val="F1EF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Free API endpoint</a:t>
            </a:r>
          </a:p>
        </p:txBody>
      </p:sp>
      <p:sp>
        <p:nvSpPr>
          <p:cNvPr id="39" name="source-cell-3-2">
            <a:extLst xmlns:a="http://schemas.openxmlformats.org/drawingml/2006/main">
              <a:ext uri="{FF2B5EF4-FFF2-40B4-BE49-F238E27FC236}">
                <a16:creationId xmlns:a16="http://schemas.microsoft.com/office/drawing/2014/main" id="{588D6657-9740-4EE5-B042-69BF1046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1435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40" name="source-cell-text-3-2">
            <a:extLst xmlns:a="http://schemas.openxmlformats.org/drawingml/2006/main">
              <a:ext uri="{FF2B5EF4-FFF2-40B4-BE49-F238E27FC236}">
                <a16:creationId xmlns:a16="http://schemas.microsoft.com/office/drawing/2014/main" id="{B6F4193A-7D94-487D-8030-D4676F7A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305425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8"/>
          </a:solidFill>
          <a:ln xmlns:a="http://schemas.openxmlformats.org/drawingml/2006/main" w="0">
            <a:solidFill>
              <a:srgbClr val="F1EF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Useful only when paper has clear builder signal</a:t>
            </a:r>
          </a:p>
        </p:txBody>
      </p:sp>
      <p:sp>
        <p:nvSpPr>
          <p:cNvPr id="41" name="anthropic-note-box">
            <a:extLst xmlns:a="http://schemas.openxmlformats.org/drawingml/2006/main">
              <a:ext uri="{FF2B5EF4-FFF2-40B4-BE49-F238E27FC236}">
                <a16:creationId xmlns:a16="http://schemas.microsoft.com/office/drawing/2014/main" id="{A85ACB72-EED6-48EB-9C0F-88D3584A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DE1"/>
          </a:solidFill>
          <a:ln xmlns:a="http://schemas.openxmlformats.org/drawingml/2006/main" w="9525">
            <a:solidFill>
              <a:srgbClr val="8A3C4A"/>
            </a:solidFill>
            <a:prstDash val="solid"/>
          </a:ln>
        </p:spPr>
      </p:sp>
      <p:sp>
        <p:nvSpPr>
          <p:cNvPr id="42" name="anthropic-note">
            <a:extLst xmlns:a="http://schemas.openxmlformats.org/drawingml/2006/main">
              <a:ext uri="{FF2B5EF4-FFF2-40B4-BE49-F238E27FC236}">
                <a16:creationId xmlns:a16="http://schemas.microsoft.com/office/drawing/2014/main" id="{D96C6A11-9173-4F64-A9DC-FD852D3A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95975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DE1"/>
          </a:solidFill>
          <a:ln xmlns:a="http://schemas.openxmlformats.org/drawingml/2006/main" w="0">
            <a:solidFill>
              <a:srgbClr val="EEDD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A3C4A"/>
                </a:solidFill>
                <a:latin typeface="Arial"/>
                <a:ea typeface="Arial"/>
                <a:cs typeface="Arial"/>
              </a:defRPr>
            </a:pPr>
            <a:r>
              <a:t>Known constraint: Anthropic has no public RSS in this repo, so announcements are expected to surface through HN instead.</a:t>
            </a:r>
          </a:p>
        </p:txBody>
      </p:sp>
      <p:sp>
        <p:nvSpPr>
          <p:cNvPr id="4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C38A97E1-7046-4856-85D7-03EB6305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44" name="footer-source-4">
            <a:extLst xmlns:a="http://schemas.openxmlformats.org/drawingml/2006/main">
              <a:ext uri="{FF2B5EF4-FFF2-40B4-BE49-F238E27FC236}">
                <a16:creationId xmlns:a16="http://schemas.microsoft.com/office/drawing/2014/main" id="{814A8B3E-A16E-4405-B4D4-6D8D75B9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948B"/>
                </a:solidFill>
                <a:latin typeface="Arial"/>
                <a:ea typeface="Arial"/>
                <a:cs typeface="Arial"/>
              </a:defRPr>
            </a:pPr>
            <a:r>
              <a:t>Source: scraper.js, sources.html</a:t>
            </a:r>
          </a:p>
        </p:txBody>
      </p:sp>
      <p:sp>
        <p:nvSpPr>
          <p:cNvPr id="45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E2074348-8BB5-4E10-8370-D1F84866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9A948B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214910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2D7D9BA6-E173-431B-994B-8770807C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4A3590B9-E3F8-4A09-89B2-2F3179A3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LLM BRAIN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EC75F249-74DE-4707-B2B3-E90C0A38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141414"/>
                </a:solidFill>
                <a:latin typeface="Georgia"/>
                <a:ea typeface="Georgia"/>
                <a:cs typeface="Georgia"/>
              </a:defRPr>
            </a:pPr>
            <a:r>
              <a:t>brain.js does two LLM passes so the brief stays cheap and personal.</a:t>
            </a:r>
          </a:p>
        </p:txBody>
      </p:sp>
      <p:sp>
        <p:nvSpPr>
          <p:cNvPr id="4" name="support-5">
            <a:extLst xmlns:a="http://schemas.openxmlformats.org/drawingml/2006/main">
              <a:ext uri="{FF2B5EF4-FFF2-40B4-BE49-F238E27FC236}">
                <a16:creationId xmlns:a16="http://schemas.microsoft.com/office/drawing/2014/main" id="{0F8E9DEE-BFA6-4CBC-A915-DE033DDC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91440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It sends titles first, then full content only for survivors.</a:t>
            </a:r>
          </a:p>
        </p:txBody>
      </p:sp>
      <p:sp>
        <p:nvSpPr>
          <p:cNvPr id="5" name="raw-candidates-box">
            <a:extLst xmlns:a="http://schemas.openxmlformats.org/drawingml/2006/main">
              <a:ext uri="{FF2B5EF4-FFF2-40B4-BE49-F238E27FC236}">
                <a16:creationId xmlns:a16="http://schemas.microsoft.com/office/drawing/2014/main" id="{263A27AE-8BB8-4F19-90A6-FFD89CE4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11430">
            <a:solidFill>
              <a:srgbClr val="2F5D8C"/>
            </a:solidFill>
            <a:prstDash val="solid"/>
          </a:ln>
        </p:spPr>
      </p:sp>
      <p:sp>
        <p:nvSpPr>
          <p:cNvPr id="6" name="raw-candidates-label">
            <a:extLst xmlns:a="http://schemas.openxmlformats.org/drawingml/2006/main">
              <a:ext uri="{FF2B5EF4-FFF2-40B4-BE49-F238E27FC236}">
                <a16:creationId xmlns:a16="http://schemas.microsoft.com/office/drawing/2014/main" id="{24184B47-9727-4AD1-B897-A48B5E5E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0">
            <a:solidFill>
              <a:srgbClr val="DCE6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5D8C"/>
                </a:solidFill>
                <a:latin typeface="Arial"/>
                <a:ea typeface="Arial"/>
                <a:cs typeface="Arial"/>
              </a:defRPr>
            </a:pPr>
            <a:r>
              <a:t>Raw candidates</a:t>
            </a:r>
          </a:p>
        </p:txBody>
      </p:sp>
      <p:sp>
        <p:nvSpPr>
          <p:cNvPr id="7" name="raw-candidates-detail">
            <a:extLst xmlns:a="http://schemas.openxmlformats.org/drawingml/2006/main">
              <a:ext uri="{FF2B5EF4-FFF2-40B4-BE49-F238E27FC236}">
                <a16:creationId xmlns:a16="http://schemas.microsoft.com/office/drawing/2014/main" id="{86EB5FA8-C059-4E8C-9F12-46332AFF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67025"/>
            <a:ext cx="1695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0">
            <a:solidFill>
              <a:srgbClr val="DCE6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Daily scraped items after 7-day seen de-dupe.</a:t>
            </a:r>
          </a:p>
        </p:txBody>
      </p:sp>
      <p:sp>
        <p:nvSpPr>
          <p:cNvPr id="8" name="stage-filter-box">
            <a:extLst xmlns:a="http://schemas.openxmlformats.org/drawingml/2006/main">
              <a:ext uri="{FF2B5EF4-FFF2-40B4-BE49-F238E27FC236}">
                <a16:creationId xmlns:a16="http://schemas.microsoft.com/office/drawing/2014/main" id="{FB003D05-9647-481E-9854-14DAD7D7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33600"/>
            <a:ext cx="2209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BD"/>
          </a:solidFill>
          <a:ln xmlns:a="http://schemas.openxmlformats.org/drawingml/2006/main" w="11430">
            <a:solidFill>
              <a:srgbClr val="B7791F"/>
            </a:solidFill>
            <a:prstDash val="solid"/>
          </a:ln>
        </p:spPr>
      </p:sp>
      <p:sp>
        <p:nvSpPr>
          <p:cNvPr id="9" name="stage-filter-label">
            <a:extLst xmlns:a="http://schemas.openxmlformats.org/drawingml/2006/main">
              <a:ext uri="{FF2B5EF4-FFF2-40B4-BE49-F238E27FC236}">
                <a16:creationId xmlns:a16="http://schemas.microsoft.com/office/drawing/2014/main" id="{859502AA-755F-43EF-AA10-23C010AE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66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BD"/>
          </a:solidFill>
          <a:ln xmlns:a="http://schemas.openxmlformats.org/drawingml/2006/main" w="0">
            <a:solidFill>
              <a:srgbClr val="F0DFB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t>Stage 1: FILTER</a:t>
            </a:r>
          </a:p>
        </p:txBody>
      </p:sp>
      <p:sp>
        <p:nvSpPr>
          <p:cNvPr id="10" name="stage-filter-detail">
            <a:extLst xmlns:a="http://schemas.openxmlformats.org/drawingml/2006/main">
              <a:ext uri="{FF2B5EF4-FFF2-40B4-BE49-F238E27FC236}">
                <a16:creationId xmlns:a16="http://schemas.microsoft.com/office/drawing/2014/main" id="{AF7886D4-56A9-49A1-9B81-3167CE58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62225"/>
            <a:ext cx="190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BD"/>
          </a:solidFill>
          <a:ln xmlns:a="http://schemas.openxmlformats.org/drawingml/2006/main" w="0">
            <a:solidFill>
              <a:srgbClr val="F0DFB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Send titles + source scores. Gemini returns up to 20 chosen indices, clustered and ranked.</a:t>
            </a:r>
          </a:p>
        </p:txBody>
      </p:sp>
      <p:sp>
        <p:nvSpPr>
          <p:cNvPr id="11" name="stage-brief-box">
            <a:extLst xmlns:a="http://schemas.openxmlformats.org/drawingml/2006/main">
              <a:ext uri="{FF2B5EF4-FFF2-40B4-BE49-F238E27FC236}">
                <a16:creationId xmlns:a16="http://schemas.microsoft.com/office/drawing/2014/main" id="{CC1A5919-0589-471C-931F-1DA5D8F4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33600"/>
            <a:ext cx="2209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11430">
            <a:solidFill>
              <a:srgbClr val="2C6E63"/>
            </a:solidFill>
            <a:prstDash val="solid"/>
          </a:ln>
        </p:spPr>
      </p:sp>
      <p:sp>
        <p:nvSpPr>
          <p:cNvPr id="12" name="stage-brief-label">
            <a:extLst xmlns:a="http://schemas.openxmlformats.org/drawingml/2006/main">
              <a:ext uri="{FF2B5EF4-FFF2-40B4-BE49-F238E27FC236}">
                <a16:creationId xmlns:a16="http://schemas.microsoft.com/office/drawing/2014/main" id="{41350395-07A7-4AB7-9DCC-26705127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66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0">
            <a:solidFill>
              <a:srgbClr val="DCE9E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C6E63"/>
                </a:solidFill>
                <a:latin typeface="Arial"/>
                <a:ea typeface="Arial"/>
                <a:cs typeface="Arial"/>
              </a:defRPr>
            </a:pPr>
            <a:r>
              <a:t>Stage 2: BRIEF</a:t>
            </a:r>
          </a:p>
        </p:txBody>
      </p:sp>
      <p:sp>
        <p:nvSpPr>
          <p:cNvPr id="13" name="stage-brief-detail">
            <a:extLst xmlns:a="http://schemas.openxmlformats.org/drawingml/2006/main">
              <a:ext uri="{FF2B5EF4-FFF2-40B4-BE49-F238E27FC236}">
                <a16:creationId xmlns:a16="http://schemas.microsoft.com/office/drawing/2014/main" id="{4F9FCE7E-686E-400A-A2D2-62482DBA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62225"/>
            <a:ext cx="190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0">
            <a:solidFill>
              <a:srgbClr val="DCE9E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Send survivor content. Gemini writes ranked items with why-it-matters and one action.</a:t>
            </a:r>
          </a:p>
        </p:txBody>
      </p:sp>
      <p:sp>
        <p:nvSpPr>
          <p:cNvPr id="14" name="brief-output-box">
            <a:extLst xmlns:a="http://schemas.openxmlformats.org/drawingml/2006/main">
              <a:ext uri="{FF2B5EF4-FFF2-40B4-BE49-F238E27FC236}">
                <a16:creationId xmlns:a16="http://schemas.microsoft.com/office/drawing/2014/main" id="{99F2AE96-D3E7-4C2F-9BF7-5A1296CC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38400"/>
            <a:ext cx="1581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2C6E63"/>
            </a:solidFill>
            <a:prstDash val="solid"/>
          </a:ln>
        </p:spPr>
      </p:sp>
      <p:sp>
        <p:nvSpPr>
          <p:cNvPr id="15" name="brief-output-label">
            <a:extLst xmlns:a="http://schemas.openxmlformats.org/drawingml/2006/main">
              <a:ext uri="{FF2B5EF4-FFF2-40B4-BE49-F238E27FC236}">
                <a16:creationId xmlns:a16="http://schemas.microsoft.com/office/drawing/2014/main" id="{1CC34CDF-FDD1-4627-8B47-1D162DFC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7175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C6E63"/>
                </a:solidFill>
                <a:latin typeface="Arial"/>
                <a:ea typeface="Arial"/>
                <a:cs typeface="Arial"/>
              </a:defRPr>
            </a:pPr>
            <a:r>
              <a:t>Output JSON</a:t>
            </a:r>
          </a:p>
        </p:txBody>
      </p:sp>
      <p:sp>
        <p:nvSpPr>
          <p:cNvPr id="16" name="brief-output-detail">
            <a:extLst xmlns:a="http://schemas.openxmlformats.org/drawingml/2006/main">
              <a:ext uri="{FF2B5EF4-FFF2-40B4-BE49-F238E27FC236}">
                <a16:creationId xmlns:a16="http://schemas.microsoft.com/office/drawing/2014/main" id="{5F2529CA-54EC-41FE-B3F0-7BFD7E5B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67025"/>
            <a:ext cx="1276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data/date.brief.json and web/brief.json.</a:t>
            </a:r>
          </a:p>
        </p:txBody>
      </p:sp>
      <p:cxnSp>
        <p:nvCxnSpPr>
          <p:cNvPr id="17" name="raw-to-filter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838450" y="2943225"/>
            <a:ext cx="83820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F5D8C"/>
            </a:solidFill>
            <a:prstDash val="solid"/>
          </a:ln>
        </p:spPr>
      </p:cxnSp>
      <p:cxnSp>
        <p:nvCxnSpPr>
          <p:cNvPr id="18" name="filter-to-brief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886450" y="294322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7791F"/>
            </a:solidFill>
            <a:prstDash val="solid"/>
          </a:ln>
        </p:spPr>
      </p:cxnSp>
      <p:cxnSp>
        <p:nvCxnSpPr>
          <p:cNvPr id="19" name="brief-to-json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934450" y="2943225"/>
            <a:ext cx="83820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C6E63"/>
            </a:solidFill>
            <a:prstDash val="solid"/>
          </a:ln>
        </p:spPr>
      </p:cxnSp>
      <p:sp>
        <p:nvSpPr>
          <p:cNvPr id="20" name="guardrail-box">
            <a:extLst xmlns:a="http://schemas.openxmlformats.org/drawingml/2006/main">
              <a:ext uri="{FF2B5EF4-FFF2-40B4-BE49-F238E27FC236}">
                <a16:creationId xmlns:a16="http://schemas.microsoft.com/office/drawing/2014/main" id="{E5CF8503-6DDE-47E8-907E-655717D7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00550"/>
            <a:ext cx="8191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1" name="guardrail-title">
            <a:extLst xmlns:a="http://schemas.openxmlformats.org/drawingml/2006/main">
              <a:ext uri="{FF2B5EF4-FFF2-40B4-BE49-F238E27FC236}">
                <a16:creationId xmlns:a16="http://schemas.microsoft.com/office/drawing/2014/main" id="{00CA5B45-E307-4BE3-B0A7-439B2458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910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Guardrails already in code</a:t>
            </a:r>
          </a:p>
        </p:txBody>
      </p:sp>
      <p:sp>
        <p:nvSpPr>
          <p:cNvPr id="22" name="guard-dot-0">
            <a:extLst xmlns:a="http://schemas.openxmlformats.org/drawingml/2006/main">
              <a:ext uri="{FF2B5EF4-FFF2-40B4-BE49-F238E27FC236}">
                <a16:creationId xmlns:a16="http://schemas.microsoft.com/office/drawing/2014/main" id="{FE6FA9E3-4FD0-4331-BA74-441B273A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91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23" name="guard-name-0">
            <a:extLst xmlns:a="http://schemas.openxmlformats.org/drawingml/2006/main">
              <a:ext uri="{FF2B5EF4-FFF2-40B4-BE49-F238E27FC236}">
                <a16:creationId xmlns:a16="http://schemas.microsoft.com/office/drawing/2014/main" id="{C9D276CD-20E3-482B-A9CC-12F66015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05375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Model fallback</a:t>
            </a:r>
          </a:p>
        </p:txBody>
      </p:sp>
      <p:sp>
        <p:nvSpPr>
          <p:cNvPr id="24" name="guard-detail-0">
            <a:extLst xmlns:a="http://schemas.openxmlformats.org/drawingml/2006/main">
              <a:ext uri="{FF2B5EF4-FFF2-40B4-BE49-F238E27FC236}">
                <a16:creationId xmlns:a16="http://schemas.microsoft.com/office/drawing/2014/main" id="{2B5697B2-DF4A-4B19-8EAE-E6F5CD1E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143500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2.5 flash -&gt; 2.0 flash -&gt; 1.5 flash</a:t>
            </a:r>
          </a:p>
        </p:txBody>
      </p:sp>
      <p:sp>
        <p:nvSpPr>
          <p:cNvPr id="25" name="guard-dot-1">
            <a:extLst xmlns:a="http://schemas.openxmlformats.org/drawingml/2006/main">
              <a:ext uri="{FF2B5EF4-FFF2-40B4-BE49-F238E27FC236}">
                <a16:creationId xmlns:a16="http://schemas.microsoft.com/office/drawing/2014/main" id="{32F0DC40-D788-461D-9475-1D1F80F9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91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6" name="guard-name-1">
            <a:extLst xmlns:a="http://schemas.openxmlformats.org/drawingml/2006/main">
              <a:ext uri="{FF2B5EF4-FFF2-40B4-BE49-F238E27FC236}">
                <a16:creationId xmlns:a16="http://schemas.microsoft.com/office/drawing/2014/main" id="{1E2F4267-EB5A-4F0D-AC18-4C5C4885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905375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Tolerant JSON</a:t>
            </a:r>
          </a:p>
        </p:txBody>
      </p:sp>
      <p:sp>
        <p:nvSpPr>
          <p:cNvPr id="27" name="guard-detail-1">
            <a:extLst xmlns:a="http://schemas.openxmlformats.org/drawingml/2006/main">
              <a:ext uri="{FF2B5EF4-FFF2-40B4-BE49-F238E27FC236}">
                <a16:creationId xmlns:a16="http://schemas.microsoft.com/office/drawing/2014/main" id="{F9F4222A-D816-4F02-884F-0100239B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143500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strip markdown fences before parse</a:t>
            </a:r>
          </a:p>
        </p:txBody>
      </p:sp>
      <p:sp>
        <p:nvSpPr>
          <p:cNvPr id="28" name="guard-dot-2">
            <a:extLst xmlns:a="http://schemas.openxmlformats.org/drawingml/2006/main">
              <a:ext uri="{FF2B5EF4-FFF2-40B4-BE49-F238E27FC236}">
                <a16:creationId xmlns:a16="http://schemas.microsoft.com/office/drawing/2014/main" id="{9AC94481-6F69-4A3F-9986-7733E06A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991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63"/>
          </a:solidFill>
          <a:ln xmlns:a="http://schemas.openxmlformats.org/drawingml/2006/main" w="0">
            <a:solidFill>
              <a:srgbClr val="2C6E63"/>
            </a:solidFill>
            <a:prstDash val="solid"/>
          </a:ln>
        </p:spPr>
      </p:sp>
      <p:sp>
        <p:nvSpPr>
          <p:cNvPr id="29" name="guard-name-2">
            <a:extLst xmlns:a="http://schemas.openxmlformats.org/drawingml/2006/main">
              <a:ext uri="{FF2B5EF4-FFF2-40B4-BE49-F238E27FC236}">
                <a16:creationId xmlns:a16="http://schemas.microsoft.com/office/drawing/2014/main" id="{09313696-31F7-448F-A3C5-11C3D5D0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05375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Seen memory</a:t>
            </a:r>
          </a:p>
        </p:txBody>
      </p:sp>
      <p:sp>
        <p:nvSpPr>
          <p:cNvPr id="30" name="guard-detail-2">
            <a:extLst xmlns:a="http://schemas.openxmlformats.org/drawingml/2006/main">
              <a:ext uri="{FF2B5EF4-FFF2-40B4-BE49-F238E27FC236}">
                <a16:creationId xmlns:a16="http://schemas.microsoft.com/office/drawing/2014/main" id="{FA534247-E7B3-4B54-96CD-F87EC258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143500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skip URLs shown in last 7 days</a:t>
            </a:r>
          </a:p>
        </p:txBody>
      </p:sp>
      <p:sp>
        <p:nvSpPr>
          <p:cNvPr id="31" name="guard-dot-3">
            <a:extLst xmlns:a="http://schemas.openxmlformats.org/drawingml/2006/main">
              <a:ext uri="{FF2B5EF4-FFF2-40B4-BE49-F238E27FC236}">
                <a16:creationId xmlns:a16="http://schemas.microsoft.com/office/drawing/2014/main" id="{EE9D9A33-6E85-4C52-86BA-B57F43AF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991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C4A"/>
          </a:solidFill>
          <a:ln xmlns:a="http://schemas.openxmlformats.org/drawingml/2006/main" w="0">
            <a:solidFill>
              <a:srgbClr val="8A3C4A"/>
            </a:solidFill>
            <a:prstDash val="solid"/>
          </a:ln>
        </p:spPr>
      </p:sp>
      <p:sp>
        <p:nvSpPr>
          <p:cNvPr id="32" name="guard-name-3">
            <a:extLst xmlns:a="http://schemas.openxmlformats.org/drawingml/2006/main">
              <a:ext uri="{FF2B5EF4-FFF2-40B4-BE49-F238E27FC236}">
                <a16:creationId xmlns:a16="http://schemas.microsoft.com/office/drawing/2014/main" id="{0D147C97-9F6F-40BB-81A5-5715FCC7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905375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Feedback</a:t>
            </a:r>
          </a:p>
        </p:txBody>
      </p:sp>
      <p:sp>
        <p:nvSpPr>
          <p:cNvPr id="33" name="guard-detail-3">
            <a:extLst xmlns:a="http://schemas.openxmlformats.org/drawingml/2006/main">
              <a:ext uri="{FF2B5EF4-FFF2-40B4-BE49-F238E27FC236}">
                <a16:creationId xmlns:a16="http://schemas.microsoft.com/office/drawing/2014/main" id="{C4E4B5F1-F356-43D5-98B5-DB148A5A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143500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star ratings steer future prompts</a:t>
            </a:r>
          </a:p>
        </p:txBody>
      </p:sp>
      <p:sp>
        <p:nvSpPr>
          <p:cNvPr id="34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E1DE875F-B43F-4000-BF90-82123FB1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35" name="footer-source-5">
            <a:extLst xmlns:a="http://schemas.openxmlformats.org/drawingml/2006/main">
              <a:ext uri="{FF2B5EF4-FFF2-40B4-BE49-F238E27FC236}">
                <a16:creationId xmlns:a16="http://schemas.microsoft.com/office/drawing/2014/main" id="{EC36B04D-E83E-4A24-BEC3-F5316024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948B"/>
                </a:solidFill>
                <a:latin typeface="Arial"/>
                <a:ea typeface="Arial"/>
                <a:cs typeface="Arial"/>
              </a:defRPr>
            </a:pPr>
            <a:r>
              <a:t>Source: brain.js</a:t>
            </a:r>
          </a:p>
        </p:txBody>
      </p:sp>
      <p:sp>
        <p:nvSpPr>
          <p:cNvPr id="3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E88239FD-480A-400B-A628-93F501B3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9A948B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68207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B73405C8-1DD0-406C-B65E-0C0435E1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EA42985C-DBDC-4A6D-8F83-376BE30C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MORNING PAGE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B7C79A44-5BCB-475C-9342-01E785D6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141414"/>
                </a:solidFill>
                <a:latin typeface="Georgia"/>
                <a:ea typeface="Georgia"/>
                <a:cs typeface="Georgia"/>
              </a:defRPr>
            </a:pPr>
            <a:r>
              <a:t>The web app makes the brief finite and teachable.</a:t>
            </a:r>
          </a:p>
        </p:txBody>
      </p:sp>
      <p:sp>
        <p:nvSpPr>
          <p:cNvPr id="4" name="support-6">
            <a:extLst xmlns:a="http://schemas.openxmlformats.org/drawingml/2006/main">
              <a:ext uri="{FF2B5EF4-FFF2-40B4-BE49-F238E27FC236}">
                <a16:creationId xmlns:a16="http://schemas.microsoft.com/office/drawing/2014/main" id="{D245D80A-6C24-4AA3-8DAF-916284F6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91440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The page is deliberately quiet: read progress, ranked cards, Done, Read, and relevance ratings.</a:t>
            </a:r>
          </a:p>
        </p:txBody>
      </p:sp>
      <p:sp>
        <p:nvSpPr>
          <p:cNvPr id="5" name="browser-frame">
            <a:extLst xmlns:a="http://schemas.openxmlformats.org/drawingml/2006/main">
              <a:ext uri="{FF2B5EF4-FFF2-40B4-BE49-F238E27FC236}">
                <a16:creationId xmlns:a16="http://schemas.microsoft.com/office/drawing/2014/main" id="{E35B081E-9875-474B-96C1-F8FA41B3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3340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6" name="browser-top">
            <a:extLst xmlns:a="http://schemas.openxmlformats.org/drawingml/2006/main">
              <a:ext uri="{FF2B5EF4-FFF2-40B4-BE49-F238E27FC236}">
                <a16:creationId xmlns:a16="http://schemas.microsoft.com/office/drawing/2014/main" id="{C84B47AF-2D51-4FFE-86A1-0E72FE34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0">
            <a:solidFill>
              <a:srgbClr val="ECE8DE"/>
            </a:solidFill>
            <a:prstDash val="solid"/>
          </a:ln>
        </p:spPr>
      </p:sp>
      <p:sp>
        <p:nvSpPr>
          <p:cNvPr id="7" name="browser-dot-1">
            <a:extLst xmlns:a="http://schemas.openxmlformats.org/drawingml/2006/main">
              <a:ext uri="{FF2B5EF4-FFF2-40B4-BE49-F238E27FC236}">
                <a16:creationId xmlns:a16="http://schemas.microsoft.com/office/drawing/2014/main" id="{5E24994D-FF93-445E-97AA-A7C4FC3B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C4A"/>
          </a:solidFill>
          <a:ln xmlns:a="http://schemas.openxmlformats.org/drawingml/2006/main" w="0">
            <a:solidFill>
              <a:srgbClr val="8A3C4A"/>
            </a:solidFill>
            <a:prstDash val="solid"/>
          </a:ln>
        </p:spPr>
      </p:sp>
      <p:sp>
        <p:nvSpPr>
          <p:cNvPr id="8" name="browser-dot-2">
            <a:extLst xmlns:a="http://schemas.openxmlformats.org/drawingml/2006/main">
              <a:ext uri="{FF2B5EF4-FFF2-40B4-BE49-F238E27FC236}">
                <a16:creationId xmlns:a16="http://schemas.microsoft.com/office/drawing/2014/main" id="{9FE2595D-0A0A-4262-BA2C-574460C0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9" name="browser-dot-3">
            <a:extLst xmlns:a="http://schemas.openxmlformats.org/drawingml/2006/main">
              <a:ext uri="{FF2B5EF4-FFF2-40B4-BE49-F238E27FC236}">
                <a16:creationId xmlns:a16="http://schemas.microsoft.com/office/drawing/2014/main" id="{CA22CB31-FFFE-4162-856E-7E9B3681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63"/>
          </a:solidFill>
          <a:ln xmlns:a="http://schemas.openxmlformats.org/drawingml/2006/main" w="0">
            <a:solidFill>
              <a:srgbClr val="2C6E63"/>
            </a:solidFill>
            <a:prstDash val="solid"/>
          </a:ln>
        </p:spPr>
      </p:sp>
      <p:sp>
        <p:nvSpPr>
          <p:cNvPr id="10" name="ui-brand">
            <a:extLst xmlns:a="http://schemas.openxmlformats.org/drawingml/2006/main">
              <a:ext uri="{FF2B5EF4-FFF2-40B4-BE49-F238E27FC236}">
                <a16:creationId xmlns:a16="http://schemas.microsoft.com/office/drawing/2014/main" id="{DC02932C-4AEE-4674-87DF-54E98546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948B"/>
                </a:solidFill>
                <a:latin typeface="Arial"/>
                <a:ea typeface="Arial"/>
                <a:cs typeface="Arial"/>
              </a:defRPr>
            </a:pPr>
            <a:r>
              <a:t>ai-ingest</a:t>
            </a:r>
          </a:p>
        </p:txBody>
      </p:sp>
      <p:sp>
        <p:nvSpPr>
          <p:cNvPr id="11" name="ui-title">
            <a:extLst xmlns:a="http://schemas.openxmlformats.org/drawingml/2006/main">
              <a:ext uri="{FF2B5EF4-FFF2-40B4-BE49-F238E27FC236}">
                <a16:creationId xmlns:a16="http://schemas.microsoft.com/office/drawing/2014/main" id="{8A569BAB-B46A-4430-AF6D-8DBF7A17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41414"/>
                </a:solidFill>
                <a:latin typeface="Georgia"/>
                <a:ea typeface="Georgia"/>
                <a:cs typeface="Georgia"/>
              </a:defRPr>
            </a:pPr>
            <a:r>
              <a:t>Your morning brief</a:t>
            </a:r>
          </a:p>
        </p:txBody>
      </p:sp>
      <p:sp>
        <p:nvSpPr>
          <p:cNvPr id="12" name="ui-date">
            <a:extLst xmlns:a="http://schemas.openxmlformats.org/drawingml/2006/main">
              <a:ext uri="{FF2B5EF4-FFF2-40B4-BE49-F238E27FC236}">
                <a16:creationId xmlns:a16="http://schemas.microsoft.com/office/drawing/2014/main" id="{D611B857-3235-4DC8-84F3-252732B2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FFFD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Wednesday, May 27, 2026 - 6 things</a:t>
            </a:r>
          </a:p>
        </p:txBody>
      </p:sp>
      <p:sp>
        <p:nvSpPr>
          <p:cNvPr id="13" name="ui-progress">
            <a:extLst xmlns:a="http://schemas.openxmlformats.org/drawingml/2006/main">
              <a:ext uri="{FF2B5EF4-FFF2-40B4-BE49-F238E27FC236}">
                <a16:creationId xmlns:a16="http://schemas.microsoft.com/office/drawing/2014/main" id="{D669D73D-8D91-4FD1-A91F-9E3519C9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14" name="ui-progress-fill">
            <a:extLst xmlns:a="http://schemas.openxmlformats.org/drawingml/2006/main">
              <a:ext uri="{FF2B5EF4-FFF2-40B4-BE49-F238E27FC236}">
                <a16:creationId xmlns:a16="http://schemas.microsoft.com/office/drawing/2014/main" id="{B45497E9-3578-4DB8-A4D8-4EC76D1C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5" name="ui-card">
            <a:extLst xmlns:a="http://schemas.openxmlformats.org/drawingml/2006/main">
              <a:ext uri="{FF2B5EF4-FFF2-40B4-BE49-F238E27FC236}">
                <a16:creationId xmlns:a16="http://schemas.microsoft.com/office/drawing/2014/main" id="{C3CECE03-0259-442E-8E97-A4E131F2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38481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6" name="ui-num">
            <a:extLst xmlns:a="http://schemas.openxmlformats.org/drawingml/2006/main">
              <a:ext uri="{FF2B5EF4-FFF2-40B4-BE49-F238E27FC236}">
                <a16:creationId xmlns:a16="http://schemas.microsoft.com/office/drawing/2014/main" id="{DC83489D-105B-4D1C-BD45-48EB6AD1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577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B7791F"/>
                </a:solidFill>
                <a:latin typeface="Georgia"/>
                <a:ea typeface="Georgia"/>
                <a:cs typeface="Georgia"/>
              </a:defRPr>
            </a:pPr>
            <a:r>
              <a:t>01</a:t>
            </a:r>
          </a:p>
        </p:txBody>
      </p:sp>
      <p:sp>
        <p:nvSpPr>
          <p:cNvPr id="17" name="ui-item">
            <a:extLst xmlns:a="http://schemas.openxmlformats.org/drawingml/2006/main">
              <a:ext uri="{FF2B5EF4-FFF2-40B4-BE49-F238E27FC236}">
                <a16:creationId xmlns:a16="http://schemas.microsoft.com/office/drawing/2014/main" id="{3B0E295B-9833-4335-A86C-6B06FB58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3865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I shipped a real product for $29.63 with five AI agents</a:t>
            </a:r>
          </a:p>
        </p:txBody>
      </p:sp>
      <p:sp>
        <p:nvSpPr>
          <p:cNvPr id="18" name="ui-why">
            <a:extLst xmlns:a="http://schemas.openxmlformats.org/drawingml/2006/main">
              <a:ext uri="{FF2B5EF4-FFF2-40B4-BE49-F238E27FC236}">
                <a16:creationId xmlns:a16="http://schemas.microsoft.com/office/drawing/2014/main" id="{C0895867-8643-4282-90A4-564523DC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577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Why it matters + one concrete thing to try this week.</a:t>
            </a:r>
          </a:p>
        </p:txBody>
      </p:sp>
      <p:sp>
        <p:nvSpPr>
          <p:cNvPr id="19" name="ui-open-pill">
            <a:extLst xmlns:a="http://schemas.openxmlformats.org/drawingml/2006/main">
              <a:ext uri="{FF2B5EF4-FFF2-40B4-BE49-F238E27FC236}">
                <a16:creationId xmlns:a16="http://schemas.microsoft.com/office/drawing/2014/main" id="{0EF05530-C785-4192-BD59-ECB47CA8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19700"/>
            <a:ext cx="6667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0DFBD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0" name="ui-open-text">
            <a:extLst xmlns:a="http://schemas.openxmlformats.org/drawingml/2006/main">
              <a:ext uri="{FF2B5EF4-FFF2-40B4-BE49-F238E27FC236}">
                <a16:creationId xmlns:a16="http://schemas.microsoft.com/office/drawing/2014/main" id="{BD5B4ED8-540D-4A80-97EE-64F59F24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67325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BD"/>
          </a:solidFill>
          <a:ln xmlns:a="http://schemas.openxmlformats.org/drawingml/2006/main" w="0">
            <a:solidFill>
              <a:srgbClr val="F0DF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t>OPEN</a:t>
            </a:r>
          </a:p>
        </p:txBody>
      </p:sp>
      <p:sp>
        <p:nvSpPr>
          <p:cNvPr id="21" name="ui-done-pill">
            <a:extLst xmlns:a="http://schemas.openxmlformats.org/drawingml/2006/main">
              <a:ext uri="{FF2B5EF4-FFF2-40B4-BE49-F238E27FC236}">
                <a16:creationId xmlns:a16="http://schemas.microsoft.com/office/drawing/2014/main" id="{FC2D9382-1274-42BC-BDB8-DD964B28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19700"/>
            <a:ext cx="6667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2C6E63"/>
            </a:solidFill>
            <a:prstDash val="solid"/>
          </a:ln>
        </p:spPr>
      </p:sp>
      <p:sp>
        <p:nvSpPr>
          <p:cNvPr id="22" name="ui-done-text">
            <a:extLst xmlns:a="http://schemas.openxmlformats.org/drawingml/2006/main">
              <a:ext uri="{FF2B5EF4-FFF2-40B4-BE49-F238E27FC236}">
                <a16:creationId xmlns:a16="http://schemas.microsoft.com/office/drawing/2014/main" id="{7B73F0C1-A55D-42F7-A7ED-AA04793B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67325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0">
            <a:solidFill>
              <a:srgbClr val="DCE9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C6E63"/>
                </a:solidFill>
                <a:latin typeface="Arial"/>
                <a:ea typeface="Arial"/>
                <a:cs typeface="Arial"/>
              </a:defRPr>
            </a:pPr>
            <a:r>
              <a:t>DONE</a:t>
            </a:r>
          </a:p>
        </p:txBody>
      </p:sp>
      <p:sp>
        <p:nvSpPr>
          <p:cNvPr id="23" name="feature-dot-0">
            <a:extLst xmlns:a="http://schemas.openxmlformats.org/drawingml/2006/main">
              <a:ext uri="{FF2B5EF4-FFF2-40B4-BE49-F238E27FC236}">
                <a16:creationId xmlns:a16="http://schemas.microsoft.com/office/drawing/2014/main" id="{13A6A5DE-8ADE-4934-B3A8-C71D56B7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95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63"/>
          </a:solidFill>
          <a:ln xmlns:a="http://schemas.openxmlformats.org/drawingml/2006/main" w="0">
            <a:solidFill>
              <a:srgbClr val="2C6E63"/>
            </a:solidFill>
            <a:prstDash val="solid"/>
          </a:ln>
        </p:spPr>
      </p:sp>
      <p:sp>
        <p:nvSpPr>
          <p:cNvPr id="24" name="feature-title-0">
            <a:extLst xmlns:a="http://schemas.openxmlformats.org/drawingml/2006/main">
              <a:ext uri="{FF2B5EF4-FFF2-40B4-BE49-F238E27FC236}">
                <a16:creationId xmlns:a16="http://schemas.microsoft.com/office/drawing/2014/main" id="{2ECC428F-9E3A-49BD-8418-E5C864AD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717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Finite queue</a:t>
            </a:r>
          </a:p>
        </p:txBody>
      </p:sp>
      <p:sp>
        <p:nvSpPr>
          <p:cNvPr id="25" name="feature-copy-0">
            <a:extLst xmlns:a="http://schemas.openxmlformats.org/drawingml/2006/main">
              <a:ext uri="{FF2B5EF4-FFF2-40B4-BE49-F238E27FC236}">
                <a16:creationId xmlns:a16="http://schemas.microsoft.com/office/drawing/2014/main" id="{AF162AAC-3513-4175-8206-D0D6B0F5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3840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Shows the next batch of ranked unread items instead of an endless feed.</a:t>
            </a:r>
          </a:p>
        </p:txBody>
      </p:sp>
      <p:sp>
        <p:nvSpPr>
          <p:cNvPr id="26" name="feature-dot-1">
            <a:extLst xmlns:a="http://schemas.openxmlformats.org/drawingml/2006/main">
              <a:ext uri="{FF2B5EF4-FFF2-40B4-BE49-F238E27FC236}">
                <a16:creationId xmlns:a16="http://schemas.microsoft.com/office/drawing/2014/main" id="{E61C8725-1DC9-4552-A512-75F6E9CF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14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7" name="feature-title-1">
            <a:extLst xmlns:a="http://schemas.openxmlformats.org/drawingml/2006/main">
              <a:ext uri="{FF2B5EF4-FFF2-40B4-BE49-F238E27FC236}">
                <a16:creationId xmlns:a16="http://schemas.microsoft.com/office/drawing/2014/main" id="{85DD44FC-11F0-4F45-8965-F79ECABB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908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Read state</a:t>
            </a:r>
          </a:p>
        </p:txBody>
      </p:sp>
      <p:sp>
        <p:nvSpPr>
          <p:cNvPr id="28" name="feature-copy-1">
            <a:extLst xmlns:a="http://schemas.openxmlformats.org/drawingml/2006/main">
              <a:ext uri="{FF2B5EF4-FFF2-40B4-BE49-F238E27FC236}">
                <a16:creationId xmlns:a16="http://schemas.microsoft.com/office/drawing/2014/main" id="{6EFC237F-7361-4AB9-84A1-FCB38778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5755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Done moves items into a collapsed Read section using localStorage.</a:t>
            </a:r>
          </a:p>
        </p:txBody>
      </p:sp>
      <p:sp>
        <p:nvSpPr>
          <p:cNvPr id="29" name="feature-dot-2">
            <a:extLst xmlns:a="http://schemas.openxmlformats.org/drawingml/2006/main">
              <a:ext uri="{FF2B5EF4-FFF2-40B4-BE49-F238E27FC236}">
                <a16:creationId xmlns:a16="http://schemas.microsoft.com/office/drawing/2014/main" id="{EBAA1564-02B7-44A5-B883-A7305832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33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D8C"/>
          </a:solidFill>
          <a:ln xmlns:a="http://schemas.openxmlformats.org/drawingml/2006/main" w="0">
            <a:solidFill>
              <a:srgbClr val="2F5D8C"/>
            </a:solidFill>
            <a:prstDash val="solid"/>
          </a:ln>
        </p:spPr>
      </p:sp>
      <p:sp>
        <p:nvSpPr>
          <p:cNvPr id="30" name="feature-title-2">
            <a:extLst xmlns:a="http://schemas.openxmlformats.org/drawingml/2006/main">
              <a:ext uri="{FF2B5EF4-FFF2-40B4-BE49-F238E27FC236}">
                <a16:creationId xmlns:a16="http://schemas.microsoft.com/office/drawing/2014/main" id="{E02AD9BA-CED0-4D2A-A790-7252622D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100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Relevance ratings</a:t>
            </a:r>
          </a:p>
        </p:txBody>
      </p:sp>
      <p:sp>
        <p:nvSpPr>
          <p:cNvPr id="31" name="feature-copy-2">
            <a:extLst xmlns:a="http://schemas.openxmlformats.org/drawingml/2006/main">
              <a:ext uri="{FF2B5EF4-FFF2-40B4-BE49-F238E27FC236}">
                <a16:creationId xmlns:a16="http://schemas.microsoft.com/office/drawing/2014/main" id="{281B780B-0D2D-46C8-BB88-1AD149B4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7670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Stars save feedback for future brief personalization when local.</a:t>
            </a:r>
          </a:p>
        </p:txBody>
      </p:sp>
      <p:sp>
        <p:nvSpPr>
          <p:cNvPr id="32" name="feature-dot-3">
            <a:extLst xmlns:a="http://schemas.openxmlformats.org/drawingml/2006/main">
              <a:ext uri="{FF2B5EF4-FFF2-40B4-BE49-F238E27FC236}">
                <a16:creationId xmlns:a16="http://schemas.microsoft.com/office/drawing/2014/main" id="{C58FB1BC-BF61-45E1-B47E-B42F015C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52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C4A"/>
          </a:solidFill>
          <a:ln xmlns:a="http://schemas.openxmlformats.org/drawingml/2006/main" w="0">
            <a:solidFill>
              <a:srgbClr val="8A3C4A"/>
            </a:solidFill>
            <a:prstDash val="solid"/>
          </a:ln>
        </p:spPr>
      </p:sp>
      <p:sp>
        <p:nvSpPr>
          <p:cNvPr id="33" name="feature-title-3">
            <a:extLst xmlns:a="http://schemas.openxmlformats.org/drawingml/2006/main">
              <a:ext uri="{FF2B5EF4-FFF2-40B4-BE49-F238E27FC236}">
                <a16:creationId xmlns:a16="http://schemas.microsoft.com/office/drawing/2014/main" id="{74C5A160-3F03-40E6-8C8F-6FA96EAE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291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Deploy caveat</a:t>
            </a:r>
          </a:p>
        </p:txBody>
      </p:sp>
      <p:sp>
        <p:nvSpPr>
          <p:cNvPr id="34" name="feature-copy-3">
            <a:extLst xmlns:a="http://schemas.openxmlformats.org/drawingml/2006/main">
              <a:ext uri="{FF2B5EF4-FFF2-40B4-BE49-F238E27FC236}">
                <a16:creationId xmlns:a16="http://schemas.microsoft.com/office/drawing/2014/main" id="{07311334-D05B-4396-9484-F426CC24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9585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On Vercel, filesystem writes are ephemeral, so ratings persist in browser only.</a:t>
            </a:r>
          </a:p>
        </p:txBody>
      </p:sp>
      <p:sp>
        <p:nvSpPr>
          <p:cNvPr id="35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8201CE73-C541-40C5-8CD0-A9102B9A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36" name="footer-source-6">
            <a:extLst xmlns:a="http://schemas.openxmlformats.org/drawingml/2006/main">
              <a:ext uri="{FF2B5EF4-FFF2-40B4-BE49-F238E27FC236}">
                <a16:creationId xmlns:a16="http://schemas.microsoft.com/office/drawing/2014/main" id="{EE871469-C346-4755-8FE8-CB0909D3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948B"/>
                </a:solidFill>
                <a:latin typeface="Arial"/>
                <a:ea typeface="Arial"/>
                <a:cs typeface="Arial"/>
              </a:defRPr>
            </a:pPr>
            <a:r>
              <a:t>Source: web/app/page.js, web/app/brief-list.js, web/app/api/rate/route.js</a:t>
            </a:r>
          </a:p>
        </p:txBody>
      </p:sp>
      <p:sp>
        <p:nvSpPr>
          <p:cNvPr id="37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F701F53E-8235-46EA-A6E7-6A9E2983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9A948B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05437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122FE1BF-61C5-4B4C-90D6-723070DB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6C96704D-FE60-4023-BD13-84F55BAE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STATUS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B0D1FEFC-64CD-47DD-B0CB-574E5BC8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141414"/>
                </a:solidFill>
                <a:latin typeface="Georgia"/>
                <a:ea typeface="Georgia"/>
                <a:cs typeface="Georgia"/>
              </a:defRPr>
            </a:pPr>
            <a:r>
              <a:t>The project is functional; the next proof is an operating loop.</a:t>
            </a:r>
          </a:p>
        </p:txBody>
      </p:sp>
      <p:sp>
        <p:nvSpPr>
          <p:cNvPr id="4" name="support-7">
            <a:extLst xmlns:a="http://schemas.openxmlformats.org/drawingml/2006/main">
              <a:ext uri="{FF2B5EF4-FFF2-40B4-BE49-F238E27FC236}">
                <a16:creationId xmlns:a16="http://schemas.microsoft.com/office/drawing/2014/main" id="{F59FF781-F713-404A-9696-95DBD9DD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91440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t>The strongest next demo is not another feature. It is a week of useful briefs and one shipped action from them.</a:t>
            </a:r>
          </a:p>
        </p:txBody>
      </p:sp>
      <p:sp>
        <p:nvSpPr>
          <p:cNvPr id="5" name="status-pill-pill">
            <a:extLst xmlns:a="http://schemas.openxmlformats.org/drawingml/2006/main">
              <a:ext uri="{FF2B5EF4-FFF2-40B4-BE49-F238E27FC236}">
                <a16:creationId xmlns:a16="http://schemas.microsoft.com/office/drawing/2014/main" id="{B77DBF4B-B5BA-49E4-8B0F-EB4A0915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1981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2F5D8C"/>
            </a:solidFill>
            <a:prstDash val="solid"/>
          </a:ln>
        </p:spPr>
      </p:sp>
      <p:sp>
        <p:nvSpPr>
          <p:cNvPr id="6" name="status-pill-text">
            <a:extLst xmlns:a="http://schemas.openxmlformats.org/drawingml/2006/main">
              <a:ext uri="{FF2B5EF4-FFF2-40B4-BE49-F238E27FC236}">
                <a16:creationId xmlns:a16="http://schemas.microsoft.com/office/drawing/2014/main" id="{8B812677-00EA-4CC1-B688-47BBD521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0">
            <a:solidFill>
              <a:srgbClr val="DCE6F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F5D8C"/>
                </a:solidFill>
                <a:latin typeface="Arial"/>
                <a:ea typeface="Arial"/>
                <a:cs typeface="Arial"/>
              </a:defRPr>
            </a:pPr>
            <a:r>
              <a:t>CURRENT READ</a:t>
            </a:r>
          </a:p>
        </p:txBody>
      </p:sp>
      <p:sp>
        <p:nvSpPr>
          <p:cNvPr id="7" name="done-box">
            <a:extLst xmlns:a="http://schemas.openxmlformats.org/drawingml/2006/main">
              <a:ext uri="{FF2B5EF4-FFF2-40B4-BE49-F238E27FC236}">
                <a16:creationId xmlns:a16="http://schemas.microsoft.com/office/drawing/2014/main" id="{8CC77C9C-0226-44A2-8977-9CAEFEDD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32194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9525">
            <a:solidFill>
              <a:srgbClr val="2C6E63"/>
            </a:solidFill>
            <a:prstDash val="solid"/>
          </a:ln>
        </p:spPr>
      </p:sp>
      <p:sp>
        <p:nvSpPr>
          <p:cNvPr id="8" name="done-heading">
            <a:extLst xmlns:a="http://schemas.openxmlformats.org/drawingml/2006/main">
              <a:ext uri="{FF2B5EF4-FFF2-40B4-BE49-F238E27FC236}">
                <a16:creationId xmlns:a16="http://schemas.microsoft.com/office/drawing/2014/main" id="{1B420AFC-6A1C-486A-B6E7-19DBC341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0">
            <a:solidFill>
              <a:srgbClr val="DCE9E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C6E63"/>
                </a:solidFill>
                <a:latin typeface="Arial"/>
                <a:ea typeface="Arial"/>
                <a:cs typeface="Arial"/>
              </a:defRPr>
            </a:pPr>
            <a:r>
              <a:t>Working now</a:t>
            </a:r>
          </a:p>
        </p:txBody>
      </p:sp>
      <p:sp>
        <p:nvSpPr>
          <p:cNvPr id="9" name="done-item-0">
            <a:extLst xmlns:a="http://schemas.openxmlformats.org/drawingml/2006/main">
              <a:ext uri="{FF2B5EF4-FFF2-40B4-BE49-F238E27FC236}">
                <a16:creationId xmlns:a16="http://schemas.microsoft.com/office/drawing/2014/main" id="{CD104AC6-1A57-4A1A-A99C-9C4CA225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0">
            <a:solidFill>
              <a:srgbClr val="DCE9E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Scraper writes raw daily JSON.</a:t>
            </a:r>
          </a:p>
        </p:txBody>
      </p:sp>
      <p:sp>
        <p:nvSpPr>
          <p:cNvPr id="10" name="done-item-1">
            <a:extLst xmlns:a="http://schemas.openxmlformats.org/drawingml/2006/main">
              <a:ext uri="{FF2B5EF4-FFF2-40B4-BE49-F238E27FC236}">
                <a16:creationId xmlns:a16="http://schemas.microsoft.com/office/drawing/2014/main" id="{F5B6A4A2-8706-4BE0-9C8C-E1F53129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0">
            <a:solidFill>
              <a:srgbClr val="DCE9E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Gemini pipeline writes brief JSON.</a:t>
            </a:r>
          </a:p>
        </p:txBody>
      </p:sp>
      <p:sp>
        <p:nvSpPr>
          <p:cNvPr id="11" name="done-item-2">
            <a:extLst xmlns:a="http://schemas.openxmlformats.org/drawingml/2006/main">
              <a:ext uri="{FF2B5EF4-FFF2-40B4-BE49-F238E27FC236}">
                <a16:creationId xmlns:a16="http://schemas.microsoft.com/office/drawing/2014/main" id="{4AC7BFC7-CD76-4880-A5DF-05759CD6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0">
            <a:solidFill>
              <a:srgbClr val="DCE9E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Next.js page renders ranked items.</a:t>
            </a:r>
          </a:p>
        </p:txBody>
      </p:sp>
      <p:sp>
        <p:nvSpPr>
          <p:cNvPr id="12" name="done-item-3">
            <a:extLst xmlns:a="http://schemas.openxmlformats.org/drawingml/2006/main">
              <a:ext uri="{FF2B5EF4-FFF2-40B4-BE49-F238E27FC236}">
                <a16:creationId xmlns:a16="http://schemas.microsoft.com/office/drawing/2014/main" id="{19D0EFD7-27B5-438F-B9AE-AD59AA4C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2"/>
          </a:solidFill>
          <a:ln xmlns:a="http://schemas.openxmlformats.org/drawingml/2006/main" w="0">
            <a:solidFill>
              <a:srgbClr val="DCE9E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Daily GitHub Action runs scrape + brief.</a:t>
            </a:r>
          </a:p>
        </p:txBody>
      </p:sp>
      <p:sp>
        <p:nvSpPr>
          <p:cNvPr id="13" name="risk-box">
            <a:extLst xmlns:a="http://schemas.openxmlformats.org/drawingml/2006/main">
              <a:ext uri="{FF2B5EF4-FFF2-40B4-BE49-F238E27FC236}">
                <a16:creationId xmlns:a16="http://schemas.microsoft.com/office/drawing/2014/main" id="{85448C2C-87E1-4707-81BA-01A32122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194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DE1"/>
          </a:solidFill>
          <a:ln xmlns:a="http://schemas.openxmlformats.org/drawingml/2006/main" w="9525">
            <a:solidFill>
              <a:srgbClr val="8A3C4A"/>
            </a:solidFill>
            <a:prstDash val="solid"/>
          </a:ln>
        </p:spPr>
      </p:sp>
      <p:sp>
        <p:nvSpPr>
          <p:cNvPr id="14" name="risk-heading">
            <a:extLst xmlns:a="http://schemas.openxmlformats.org/drawingml/2006/main">
              <a:ext uri="{FF2B5EF4-FFF2-40B4-BE49-F238E27FC236}">
                <a16:creationId xmlns:a16="http://schemas.microsoft.com/office/drawing/2014/main" id="{667B9B60-D1DE-4278-B394-6475E26F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03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DE1"/>
          </a:solidFill>
          <a:ln xmlns:a="http://schemas.openxmlformats.org/drawingml/2006/main" w="0">
            <a:solidFill>
              <a:srgbClr val="EEDDE1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A3C4A"/>
                </a:solidFill>
                <a:latin typeface="Arial"/>
                <a:ea typeface="Arial"/>
                <a:cs typeface="Arial"/>
              </a:defRPr>
            </a:pPr>
            <a:r>
              <a:t>Known gaps</a:t>
            </a:r>
          </a:p>
        </p:txBody>
      </p:sp>
      <p:sp>
        <p:nvSpPr>
          <p:cNvPr id="15" name="risk-item-0">
            <a:extLst xmlns:a="http://schemas.openxmlformats.org/drawingml/2006/main">
              <a:ext uri="{FF2B5EF4-FFF2-40B4-BE49-F238E27FC236}">
                <a16:creationId xmlns:a16="http://schemas.microsoft.com/office/drawing/2014/main" id="{445A8B5C-01D2-49E0-9F97-02AF1616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1465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DE1"/>
          </a:solidFill>
          <a:ln xmlns:a="http://schemas.openxmlformats.org/drawingml/2006/main" w="0">
            <a:solidFill>
              <a:srgbClr val="EEDDE1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README status is stale versus current code.</a:t>
            </a:r>
          </a:p>
        </p:txBody>
      </p:sp>
      <p:sp>
        <p:nvSpPr>
          <p:cNvPr id="16" name="risk-item-1">
            <a:extLst xmlns:a="http://schemas.openxmlformats.org/drawingml/2006/main">
              <a:ext uri="{FF2B5EF4-FFF2-40B4-BE49-F238E27FC236}">
                <a16:creationId xmlns:a16="http://schemas.microsoft.com/office/drawing/2014/main" id="{5BDE2192-CEB7-48D4-BEC3-29398FF5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6710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DE1"/>
          </a:solidFill>
          <a:ln xmlns:a="http://schemas.openxmlformats.org/drawingml/2006/main" w="0">
            <a:solidFill>
              <a:srgbClr val="EEDDE1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Vercel rating persistence is not closed.</a:t>
            </a:r>
          </a:p>
        </p:txBody>
      </p:sp>
      <p:sp>
        <p:nvSpPr>
          <p:cNvPr id="17" name="risk-item-2">
            <a:extLst xmlns:a="http://schemas.openxmlformats.org/drawingml/2006/main">
              <a:ext uri="{FF2B5EF4-FFF2-40B4-BE49-F238E27FC236}">
                <a16:creationId xmlns:a16="http://schemas.microsoft.com/office/drawing/2014/main" id="{FFCB69AC-D74E-47CE-9ADF-422A74E7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1955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DE1"/>
          </a:solidFill>
          <a:ln xmlns:a="http://schemas.openxmlformats.org/drawingml/2006/main" w="0">
            <a:solidFill>
              <a:srgbClr val="EEDDE1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No Twitter source; this is intentional for now.</a:t>
            </a:r>
          </a:p>
        </p:txBody>
      </p:sp>
      <p:sp>
        <p:nvSpPr>
          <p:cNvPr id="18" name="risk-item-3">
            <a:extLst xmlns:a="http://schemas.openxmlformats.org/drawingml/2006/main">
              <a:ext uri="{FF2B5EF4-FFF2-40B4-BE49-F238E27FC236}">
                <a16:creationId xmlns:a16="http://schemas.microsoft.com/office/drawing/2014/main" id="{1A70ACF8-4C5E-4D86-A582-2533C4FA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7200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DE1"/>
          </a:solidFill>
          <a:ln xmlns:a="http://schemas.openxmlformats.org/drawingml/2006/main" w="0">
            <a:solidFill>
              <a:srgbClr val="EEDDE1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Same-day scraper reruns clobber the file.</a:t>
            </a:r>
          </a:p>
        </p:txBody>
      </p:sp>
      <p:sp>
        <p:nvSpPr>
          <p:cNvPr id="19" name="next-box">
            <a:extLst xmlns:a="http://schemas.openxmlformats.org/drawingml/2006/main">
              <a:ext uri="{FF2B5EF4-FFF2-40B4-BE49-F238E27FC236}">
                <a16:creationId xmlns:a16="http://schemas.microsoft.com/office/drawing/2014/main" id="{B1936B45-FB2D-4838-A8A5-DB15E35D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32194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BD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0" name="next-heading">
            <a:extLst xmlns:a="http://schemas.openxmlformats.org/drawingml/2006/main">
              <a:ext uri="{FF2B5EF4-FFF2-40B4-BE49-F238E27FC236}">
                <a16:creationId xmlns:a16="http://schemas.microsoft.com/office/drawing/2014/main" id="{25C2619B-6710-490F-AFEB-D9A328CE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BD"/>
          </a:solidFill>
          <a:ln xmlns:a="http://schemas.openxmlformats.org/drawingml/2006/main" w="0">
            <a:solidFill>
              <a:srgbClr val="F0DFB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t>Next shipping proof</a:t>
            </a:r>
          </a:p>
        </p:txBody>
      </p:sp>
      <p:sp>
        <p:nvSpPr>
          <p:cNvPr id="21" name="next-item-0">
            <a:extLst xmlns:a="http://schemas.openxmlformats.org/drawingml/2006/main">
              <a:ext uri="{FF2B5EF4-FFF2-40B4-BE49-F238E27FC236}">
                <a16:creationId xmlns:a16="http://schemas.microsoft.com/office/drawing/2014/main" id="{54676556-56B2-4CFD-A508-169ED657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1465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BD"/>
          </a:solidFill>
          <a:ln xmlns:a="http://schemas.openxmlformats.org/drawingml/2006/main" w="0">
            <a:solidFill>
              <a:srgbClr val="F0DFB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Run it every morning for 7 days.</a:t>
            </a:r>
          </a:p>
        </p:txBody>
      </p:sp>
      <p:sp>
        <p:nvSpPr>
          <p:cNvPr id="22" name="next-item-1">
            <a:extLst xmlns:a="http://schemas.openxmlformats.org/drawingml/2006/main">
              <a:ext uri="{FF2B5EF4-FFF2-40B4-BE49-F238E27FC236}">
                <a16:creationId xmlns:a16="http://schemas.microsoft.com/office/drawing/2014/main" id="{B2FC3585-5993-44BC-9C67-8E7ED5FC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6710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BD"/>
          </a:solidFill>
          <a:ln xmlns:a="http://schemas.openxmlformats.org/drawingml/2006/main" w="0">
            <a:solidFill>
              <a:srgbClr val="F0DFB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Rate every brief item honestly.</a:t>
            </a:r>
          </a:p>
        </p:txBody>
      </p:sp>
      <p:sp>
        <p:nvSpPr>
          <p:cNvPr id="23" name="next-item-2">
            <a:extLst xmlns:a="http://schemas.openxmlformats.org/drawingml/2006/main">
              <a:ext uri="{FF2B5EF4-FFF2-40B4-BE49-F238E27FC236}">
                <a16:creationId xmlns:a16="http://schemas.microsoft.com/office/drawing/2014/main" id="{88FB33B7-4E5E-49F7-B82C-E0C2B37A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1955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BD"/>
          </a:solidFill>
          <a:ln xmlns:a="http://schemas.openxmlformats.org/drawingml/2006/main" w="0">
            <a:solidFill>
              <a:srgbClr val="F0DFB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Pick one brief-driven action and ship it.</a:t>
            </a:r>
          </a:p>
        </p:txBody>
      </p:sp>
      <p:sp>
        <p:nvSpPr>
          <p:cNvPr id="24" name="next-item-3">
            <a:extLst xmlns:a="http://schemas.openxmlformats.org/drawingml/2006/main">
              <a:ext uri="{FF2B5EF4-FFF2-40B4-BE49-F238E27FC236}">
                <a16:creationId xmlns:a16="http://schemas.microsoft.com/office/drawing/2014/main" id="{BBB3A4F9-B5E6-4766-8ECB-77FDC2F4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7200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BD"/>
          </a:solidFill>
          <a:ln xmlns:a="http://schemas.openxmlformats.org/drawingml/2006/main" w="0">
            <a:solidFill>
              <a:srgbClr val="F0DFB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t>Write a short proof note with before/after.</a:t>
            </a:r>
          </a:p>
        </p:txBody>
      </p:sp>
      <p:sp>
        <p:nvSpPr>
          <p:cNvPr id="25" name="final-rule">
            <a:extLst xmlns:a="http://schemas.openxmlformats.org/drawingml/2006/main">
              <a:ext uri="{FF2B5EF4-FFF2-40B4-BE49-F238E27FC236}">
                <a16:creationId xmlns:a16="http://schemas.microsoft.com/office/drawing/2014/main" id="{B0ED5283-89C8-45C5-AA14-DBE1CD08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848350"/>
            <a:ext cx="765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6" name="final-note">
            <a:extLst xmlns:a="http://schemas.openxmlformats.org/drawingml/2006/main">
              <a:ext uri="{FF2B5EF4-FFF2-40B4-BE49-F238E27FC236}">
                <a16:creationId xmlns:a16="http://schemas.microsoft.com/office/drawing/2014/main" id="{CEE23448-A7DD-4AE8-A17B-2D1805A0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9245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141414"/>
                </a:solidFill>
                <a:latin typeface="Georgia"/>
                <a:ea typeface="Georgia"/>
                <a:cs typeface="Georgia"/>
              </a:defRPr>
            </a:pPr>
            <a:r>
              <a:t>Smallest useful shipped version: a reliable daily page that helps Ullas ship one thing per week.</a:t>
            </a:r>
          </a:p>
        </p:txBody>
      </p:sp>
      <p:sp>
        <p:nvSpPr>
          <p:cNvPr id="27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D1B2D8B8-514B-41D9-8E5A-976857A1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D8D0C3"/>
            </a:solidFill>
            <a:prstDash val="solid"/>
          </a:ln>
        </p:spPr>
      </p:sp>
      <p:sp>
        <p:nvSpPr>
          <p:cNvPr id="28" name="footer-source-7">
            <a:extLst xmlns:a="http://schemas.openxmlformats.org/drawingml/2006/main">
              <a:ext uri="{FF2B5EF4-FFF2-40B4-BE49-F238E27FC236}">
                <a16:creationId xmlns:a16="http://schemas.microsoft.com/office/drawing/2014/main" id="{046E59BE-6796-4B8C-B004-06DC3D28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A948B"/>
                </a:solidFill>
                <a:latin typeface="Arial"/>
                <a:ea typeface="Arial"/>
                <a:cs typeface="Arial"/>
              </a:defRPr>
            </a:pPr>
            <a:r>
              <a:t>Source: daily.yml, README.md, brain.js, web files</a:t>
            </a:r>
          </a:p>
        </p:txBody>
      </p:sp>
      <p:sp>
        <p:nvSpPr>
          <p:cNvPr id="29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627A247C-F78E-45A7-993A-2F88E966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9A948B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053951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2026-05-28T05:17:31.4640000Z</dcterms:created>
  <dcterms:modified xsi:type="dcterms:W3CDTF">2026-05-28T05:17:31.4640000Z</dcterms:modified>
</coreProperties>
</file>